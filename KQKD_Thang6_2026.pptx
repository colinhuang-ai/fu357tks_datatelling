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mbria"/>
              </a:rPr>
              <a:t>Doanh thu ghi nhận theo tháng (tỷ đồng)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 ghi nhận (tỷ đ)</c:v>
                </c:pt>
              </c:strCache>
            </c:strRef>
          </c:tx>
          <c:spPr>
            <a:solidFill>
              <a:srgbClr val="B8C6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506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8C6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8C6E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C6E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8C6E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8C6E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459.7</c:v>
                </c:pt>
                <c:pt idx="1">
                  <c:v>385.8</c:v>
                </c:pt>
                <c:pt idx="2">
                  <c:v>539.1</c:v>
                </c:pt>
                <c:pt idx="3">
                  <c:v>617.1</c:v>
                </c:pt>
                <c:pt idx="4">
                  <c:v>528.4</c:v>
                </c:pt>
                <c:pt idx="5">
                  <c:v>668.7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4506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06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12700" cap="flat">
              <a:solidFill>
                <a:srgbClr val="E8EC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mbria"/>
              </a:rPr>
              <a:t>Theo kênh bán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Tháng 5</c:v>
                </c:pt>
              </c:strCache>
            </c:strRef>
          </c:tx>
          <c:spPr>
            <a:solidFill>
              <a:srgbClr val="B8C6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506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Khách giới thiệu</c:v>
                  </c:pt>
                  <c:pt idx="1">
                    <c:v>Sự kiện mở bán</c:v>
                  </c:pt>
                  <c:pt idx="2">
                    <c:v>Online / Digital</c:v>
                  </c:pt>
                  <c:pt idx="3">
                    <c:v>Đại lý F2</c:v>
                  </c:pt>
                  <c:pt idx="4">
                    <c:v>Sàn nội bộ (F1)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70.5</c:v>
                </c:pt>
                <c:pt idx="1">
                  <c:v>17</c:v>
                </c:pt>
                <c:pt idx="2">
                  <c:v>69.5</c:v>
                </c:pt>
                <c:pt idx="3">
                  <c:v>132.3</c:v>
                </c:pt>
                <c:pt idx="4">
                  <c:v>239.1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Tháng 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506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Khách giới thiệu</c:v>
                  </c:pt>
                  <c:pt idx="1">
                    <c:v>Sự kiện mở bán</c:v>
                  </c:pt>
                  <c:pt idx="2">
                    <c:v>Online / Digital</c:v>
                  </c:pt>
                  <c:pt idx="3">
                    <c:v>Đại lý F2</c:v>
                  </c:pt>
                  <c:pt idx="4">
                    <c:v>Sàn nội bộ (F1)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65.5</c:v>
                </c:pt>
                <c:pt idx="1">
                  <c:v>78.1</c:v>
                </c:pt>
                <c:pt idx="2">
                  <c:v>111.6</c:v>
                </c:pt>
                <c:pt idx="3">
                  <c:v>154.6</c:v>
                </c:pt>
                <c:pt idx="4">
                  <c:v>258.9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4506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06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  <c:min val="0"/>
        </c:scaling>
        <c:delete val="0"/>
        <c:axPos val="b"/>
        <c:majorGridlines>
          <c:spPr>
            <a:ln w="12700" cap="flat">
              <a:solidFill>
                <a:srgbClr val="E8EC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44506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mbria"/>
              </a:rPr>
              <a:t>Theo loại hình BĐS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Tháng 5</c:v>
                </c:pt>
              </c:strCache>
            </c:strRef>
          </c:tx>
          <c:spPr>
            <a:solidFill>
              <a:srgbClr val="B8C6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506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Condotel</c:v>
                  </c:pt>
                  <c:pt idx="1">
                    <c:v>Shophouse</c:v>
                  </c:pt>
                  <c:pt idx="2">
                    <c:v>Căn hộ chung cư</c:v>
                  </c:pt>
                  <c:pt idx="3">
                    <c:v>Đất nền</c:v>
                  </c:pt>
                  <c:pt idx="4">
                    <c:v>Nhà phố / Liền kề</c:v>
                  </c:pt>
                  <c:pt idx="5">
                    <c:v>Biệt thự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16.8</c:v>
                </c:pt>
                <c:pt idx="1">
                  <c:v>127.7</c:v>
                </c:pt>
                <c:pt idx="2">
                  <c:v>88.6</c:v>
                </c:pt>
                <c:pt idx="3">
                  <c:v>61.8</c:v>
                </c:pt>
                <c:pt idx="4">
                  <c:v>129.3</c:v>
                </c:pt>
                <c:pt idx="5">
                  <c:v>104.2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Tháng 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506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Condotel</c:v>
                  </c:pt>
                  <c:pt idx="1">
                    <c:v>Shophouse</c:v>
                  </c:pt>
                  <c:pt idx="2">
                    <c:v>Căn hộ chung cư</c:v>
                  </c:pt>
                  <c:pt idx="3">
                    <c:v>Đất nền</c:v>
                  </c:pt>
                  <c:pt idx="4">
                    <c:v>Nhà phố / Liền kề</c:v>
                  </c:pt>
                  <c:pt idx="5">
                    <c:v>Biệt thự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23.5</c:v>
                </c:pt>
                <c:pt idx="1">
                  <c:v>89.4</c:v>
                </c:pt>
                <c:pt idx="2">
                  <c:v>98.3</c:v>
                </c:pt>
                <c:pt idx="3">
                  <c:v>134.4</c:v>
                </c:pt>
                <c:pt idx="4">
                  <c:v>136.5</c:v>
                </c:pt>
                <c:pt idx="5">
                  <c:v>186.6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4506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06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"/>
          <c:min val="0"/>
        </c:scaling>
        <c:delete val="0"/>
        <c:axPos val="b"/>
        <c:majorGridlines>
          <c:spPr>
            <a:ln w="12700" cap="flat">
              <a:solidFill>
                <a:srgbClr val="E8EC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44506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0" i="0" u="none" strike="noStrike">
                <a:solidFill>
                  <a:srgbClr val="1E2761"/>
                </a:solidFill>
                <a:latin typeface="Cambria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mbria"/>
              </a:rPr>
              <a:t>Đã ký hợp đồng mua bán so với mới đặt cọc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Đã ký HĐMB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344.4</c:v>
                </c:pt>
                <c:pt idx="1">
                  <c:v>230.5</c:v>
                </c:pt>
                <c:pt idx="2">
                  <c:v>299.9</c:v>
                </c:pt>
                <c:pt idx="3">
                  <c:v>446.1</c:v>
                </c:pt>
                <c:pt idx="4">
                  <c:v>424.5</c:v>
                </c:pt>
                <c:pt idx="5">
                  <c:v>413.1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Mới đặt cọc</c:v>
                </c:pt>
              </c:strCache>
            </c:strRef>
          </c:tx>
          <c:spPr>
            <a:solidFill>
              <a:srgbClr val="C889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T1</c:v>
                  </c:pt>
                  <c:pt idx="1">
                    <c:v>T2</c:v>
                  </c:pt>
                  <c:pt idx="2">
                    <c:v>T3</c:v>
                  </c:pt>
                  <c:pt idx="3">
                    <c:v>T4</c:v>
                  </c:pt>
                  <c:pt idx="4">
                    <c:v>T5</c:v>
                  </c:pt>
                  <c:pt idx="5">
                    <c:v>T6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115.2</c:v>
                </c:pt>
                <c:pt idx="1">
                  <c:v>155.2</c:v>
                </c:pt>
                <c:pt idx="2">
                  <c:v>239.2</c:v>
                </c:pt>
                <c:pt idx="3">
                  <c:v>171</c:v>
                </c:pt>
                <c:pt idx="4">
                  <c:v>103.9</c:v>
                </c:pt>
                <c:pt idx="5">
                  <c:v>255.7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06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12700" cap="flat">
              <a:solidFill>
                <a:srgbClr val="E8EC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44506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Tháng 5</c:v>
                </c:pt>
              </c:strCache>
            </c:strRef>
          </c:tx>
          <c:spPr>
            <a:solidFill>
              <a:srgbClr val="B8C6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506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Đỗ Thanh Lam</c:v>
                  </c:pt>
                  <c:pt idx="1">
                    <c:v>Trần Thị Bích</c:v>
                  </c:pt>
                  <c:pt idx="2">
                    <c:v>Nguyễn Văn An</c:v>
                  </c:pt>
                  <c:pt idx="3">
                    <c:v>Đặng Trung Kiên</c:v>
                  </c:pt>
                  <c:pt idx="4">
                    <c:v>Phạm Quốc Dũng</c:v>
                  </c:pt>
                  <c:pt idx="5">
                    <c:v>Lê Minh Châu</c:v>
                  </c:pt>
                  <c:pt idx="6">
                    <c:v>Ngô Phương Oanh</c:v>
                  </c:pt>
                  <c:pt idx="7">
                    <c:v>Vũ Đình Hùng</c:v>
                  </c:pt>
                  <c:pt idx="8">
                    <c:v>Hoàng Thị Giang</c:v>
                  </c:pt>
                  <c:pt idx="9">
                    <c:v>Bùi Hải Nam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69.6</c:v>
                </c:pt>
                <c:pt idx="1">
                  <c:v>32.9</c:v>
                </c:pt>
                <c:pt idx="2">
                  <c:v>43.8</c:v>
                </c:pt>
                <c:pt idx="3">
                  <c:v>39.5</c:v>
                </c:pt>
                <c:pt idx="4">
                  <c:v>80.7</c:v>
                </c:pt>
                <c:pt idx="5">
                  <c:v>55.7</c:v>
                </c:pt>
                <c:pt idx="6">
                  <c:v>36.2</c:v>
                </c:pt>
                <c:pt idx="7">
                  <c:v>51.2</c:v>
                </c:pt>
                <c:pt idx="8">
                  <c:v>63</c:v>
                </c:pt>
                <c:pt idx="9">
                  <c:v>55.9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Tháng 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4506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Đỗ Thanh Lam</c:v>
                  </c:pt>
                  <c:pt idx="1">
                    <c:v>Trần Thị Bích</c:v>
                  </c:pt>
                  <c:pt idx="2">
                    <c:v>Nguyễn Văn An</c:v>
                  </c:pt>
                  <c:pt idx="3">
                    <c:v>Đặng Trung Kiên</c:v>
                  </c:pt>
                  <c:pt idx="4">
                    <c:v>Phạm Quốc Dũng</c:v>
                  </c:pt>
                  <c:pt idx="5">
                    <c:v>Lê Minh Châu</c:v>
                  </c:pt>
                  <c:pt idx="6">
                    <c:v>Ngô Phương Oanh</c:v>
                  </c:pt>
                  <c:pt idx="7">
                    <c:v>Vũ Đình Hùng</c:v>
                  </c:pt>
                  <c:pt idx="8">
                    <c:v>Hoàng Thị Giang</c:v>
                  </c:pt>
                  <c:pt idx="9">
                    <c:v>Bùi Hải Nam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12.4</c:v>
                </c:pt>
                <c:pt idx="1">
                  <c:v>15.1</c:v>
                </c:pt>
                <c:pt idx="2">
                  <c:v>23</c:v>
                </c:pt>
                <c:pt idx="3">
                  <c:v>59.1</c:v>
                </c:pt>
                <c:pt idx="4">
                  <c:v>65.2</c:v>
                </c:pt>
                <c:pt idx="5">
                  <c:v>71.9</c:v>
                </c:pt>
                <c:pt idx="6">
                  <c:v>87.3</c:v>
                </c:pt>
                <c:pt idx="7">
                  <c:v>88</c:v>
                </c:pt>
                <c:pt idx="8">
                  <c:v>116.6</c:v>
                </c:pt>
                <c:pt idx="9">
                  <c:v>130.1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4506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06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0"/>
        </c:scaling>
        <c:delete val="0"/>
        <c:axPos val="b"/>
        <c:majorGridlines>
          <c:spPr>
            <a:ln w="12700" cap="flat">
              <a:solidFill>
                <a:srgbClr val="E8EC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44506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trình bày theo Pyramid Principle: kết luận chính ở slide 2, ba luận điểm chống đỡ ở slide 4-6.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đỉnh kim tự tháp. Ba thẻ bên dưới là ba luận điểm chống đỡ, mỗi luận điểm được chứng minh bằng một slide riêng.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 hoạch năm 4.350 tỷ lấy từ sheet Kế hoạch của workbook; lũy kế 6 tháng đã đạt 73,5%.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kênh trên năm tăng trưởng. Sự kiện mở bán tăng gấp 4,6 lần nhưng nền tháng 5 rất thấp (chỉ 2 giao dịch) — cần đọc kèm số tuyệt đối.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Điểm mấu chốt của toàn bộ báo cáo. Doanh thu ghi nhận trong workbook tính cả đơn đặt cọc, nên tổng số nhìn rất đẹp.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Mức độ tập trung là rủi ro chính: một dự án và bốn nhân viên quyết định phần lớn kết quả.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ô bên phải là placeholder — Colin điền nguyên nhân thực tế (chính sách bán hàng, tiến độ pháp lý dự án, biến động nhân sự...).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 thúc bằng hành động, không kết thúc bằng số liệu.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371600"/>
            <a:ext cx="4754880" cy="4754880"/>
          </a:xfrm>
          <a:prstGeom prst="ellipse">
            <a:avLst/>
          </a:prstGeom>
          <a:solidFill>
            <a:srgbClr val="2E3F7F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114800"/>
            <a:ext cx="3108960" cy="3108960"/>
          </a:xfrm>
          <a:prstGeom prst="ellipse">
            <a:avLst/>
          </a:prstGeom>
          <a:solidFill>
            <a:srgbClr val="2E3F7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 NỘI BỘ · KHỐI KINH DOANH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2212848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kinh doanh</a:t>
            </a:r>
            <a:endParaRPr lang="en-US" sz="43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Tháng 6/2026</a:t>
            </a:r>
            <a:endParaRPr lang="en-US" sz="4300" dirty="0"/>
          </a:p>
        </p:txBody>
      </p:sp>
      <p:sp>
        <p:nvSpPr>
          <p:cNvPr id="6" name="Text 4"/>
          <p:cNvSpPr/>
          <p:nvPr/>
        </p:nvSpPr>
        <p:spPr>
          <a:xfrm>
            <a:off x="822960" y="404164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thu ghi nhận 668,7 tỷ đồng · tăng 26,6% so với tháng 5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2926080" cy="0"/>
          </a:xfrm>
          <a:prstGeom prst="line">
            <a:avLst/>
          </a:prstGeom>
          <a:noFill/>
          <a:ln w="25400">
            <a:solidFill>
              <a:srgbClr val="C889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937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FB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BDS_Claude.xlsx — sheet Data (420 giao dịch, 01/2026–07/2026).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FB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liệu mô phỏng phục vụ huấn luyện, không phải số liệu thị trường thật.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 CHÍNH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Tháng 6 tăng trưởng mạnh về quy mô (+26,6%), nhưng </a:t>
            </a:r>
            <a:pPr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C88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toàn bộ mức tăng nằm ở đơn chưa ký HĐMB</a:t>
            </a:r>
            <a:pPr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doanh thu đã chốt thực tế giảm nhẹ 2,7%.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95728"/>
            <a:ext cx="3429000" cy="3063240"/>
          </a:xfrm>
          <a:prstGeom prst="roundRect">
            <a:avLst>
              <a:gd name="adj" fmla="val 1493"/>
            </a:avLst>
          </a:prstGeom>
          <a:solidFill>
            <a:srgbClr val="2E3F7F"/>
          </a:solidFill>
          <a:ln w="12700">
            <a:solidFill>
              <a:srgbClr val="3D4E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651760"/>
            <a:ext cx="384048" cy="384048"/>
          </a:xfrm>
          <a:prstGeom prst="ellipse">
            <a:avLst/>
          </a:prstGeom>
          <a:solidFill>
            <a:srgbClr val="C8891F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3154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mô bán hàng tăng thật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96112" y="3767328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668,7 tỷ đồng (+26,6%) từ 75 giao dịch (+25%). Tỷ lệ huỷ cọc giảm từ 10,0% xuống 5,3% — mức thấp nhất trong 4 tháng.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" y="5029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+140,4 tỷ so với T5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395728"/>
            <a:ext cx="3429000" cy="3063240"/>
          </a:xfrm>
          <a:prstGeom prst="roundRect">
            <a:avLst>
              <a:gd name="adj" fmla="val 1493"/>
            </a:avLst>
          </a:prstGeom>
          <a:solidFill>
            <a:srgbClr val="2E3F7F"/>
          </a:solidFill>
          <a:ln w="12700">
            <a:solidFill>
              <a:srgbClr val="3D4E8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2651760"/>
            <a:ext cx="384048" cy="384048"/>
          </a:xfrm>
          <a:prstGeom prst="ellipse">
            <a:avLst/>
          </a:prstGeom>
          <a:solidFill>
            <a:srgbClr val="C8891F"/>
          </a:solidFill>
          <a:ln/>
        </p:spPr>
      </p:sp>
      <p:sp>
        <p:nvSpPr>
          <p:cNvPr id="12" name="Text 10"/>
          <p:cNvSpPr/>
          <p:nvPr/>
        </p:nvSpPr>
        <p:spPr>
          <a:xfrm>
            <a:off x="4599432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99432" y="3154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Nhưng chất lượng doanh thu mỏng đi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599432" y="3767328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đặt cọc tăng +151,8 tỷ, trong khi HĐMB đã ký giảm 11,4 tỷ. Đơn giá bình quân giảm 9,9%, chiết khấu nhích lên 2,94%.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5029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 doanh thu T6 chưa ký HĐMB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2395728"/>
            <a:ext cx="3429000" cy="3063240"/>
          </a:xfrm>
          <a:prstGeom prst="roundRect">
            <a:avLst>
              <a:gd name="adj" fmla="val 1493"/>
            </a:avLst>
          </a:prstGeom>
          <a:solidFill>
            <a:srgbClr val="2E3F7F"/>
          </a:solidFill>
          <a:ln w="12700">
            <a:solidFill>
              <a:srgbClr val="3D4E8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02752" y="2651760"/>
            <a:ext cx="384048" cy="384048"/>
          </a:xfrm>
          <a:prstGeom prst="ellipse">
            <a:avLst/>
          </a:prstGeom>
          <a:solidFill>
            <a:srgbClr val="C8891F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02752" y="315468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Tăng trưởng tập trung vào ít nguồn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302752" y="3767328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4/10 sales tạo 63% doanh thu; riêng Swan Bay Villas chiếm 22%. Đồng thời 4 sales và 6 dự án sụt giảm so với tháng 5.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02752" y="5029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Rủi ro nếu 1 nguồn hụt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5650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tiết từng luận điểm: slide 4, 5 và 6.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BỨC TRANH TỔNG THỂ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Tháng 6 so với tháng 5/2026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vị: tỷ đồng · doanh thu ghi nhận đã trừ chiết khấu, giao dịch huỷ cọc ghi nhận bằng 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901952" cy="1170432"/>
          </a:xfrm>
          <a:prstGeom prst="roundRect">
            <a:avLst>
              <a:gd name="adj" fmla="val 468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74650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THU GHI NHẬN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13232" y="199339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668,7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tỷ đ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713232" y="246888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+26,6% so với T5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596896" y="1627632"/>
            <a:ext cx="1901952" cy="1170432"/>
          </a:xfrm>
          <a:prstGeom prst="roundRect">
            <a:avLst>
              <a:gd name="adj" fmla="val 4688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61488" y="174650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GIAO DỊCH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GD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761488" y="246888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+25,0% (60 → 75)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45152" y="1627632"/>
            <a:ext cx="1901952" cy="1170432"/>
          </a:xfrm>
          <a:prstGeom prst="roundRect">
            <a:avLst>
              <a:gd name="adj" fmla="val 4688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9744" y="174650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TRỊ TB / GIAO DỊCH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09744" y="199339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8,92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tỷ đ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4809744" y="246888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+1,3%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2926080"/>
            <a:ext cx="1901952" cy="1170432"/>
          </a:xfrm>
          <a:prstGeom prst="roundRect">
            <a:avLst>
              <a:gd name="adj" fmla="val 4688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044952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 LỆ HUỶ CỌC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3232" y="329184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5,3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713232" y="376732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−4,7 điểm % (tốt lên)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596896" y="2926080"/>
            <a:ext cx="1901952" cy="1170432"/>
          </a:xfrm>
          <a:prstGeom prst="roundRect">
            <a:avLst>
              <a:gd name="adj" fmla="val 4688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61488" y="3044952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GIÁ BÌNH QUÂN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761488" y="329184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78,0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trđ/m²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2761488" y="376732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−9,9% so với T5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45152" y="2926080"/>
            <a:ext cx="1901952" cy="1170432"/>
          </a:xfrm>
          <a:prstGeom prst="roundRect">
            <a:avLst>
              <a:gd name="adj" fmla="val 4688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9744" y="3044952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LŨY KẾ 6T / KẾ HOẠCH NĂM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09744" y="329184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73,5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4809744" y="376732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3.198,7 / 4.350,0 tỷ</a:t>
            </a:r>
            <a:endParaRPr lang="en-US" sz="11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720840" y="1572768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48640" y="4343400"/>
            <a:ext cx="5943600" cy="1371600"/>
          </a:xfrm>
          <a:prstGeom prst="roundRect">
            <a:avLst>
              <a:gd name="adj" fmla="val 3333"/>
            </a:avLst>
          </a:prstGeom>
          <a:solidFill>
            <a:srgbClr val="FBF4E7"/>
          </a:solidFill>
          <a:ln w="12700">
            <a:solidFill>
              <a:srgbClr val="EBD9B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7240" y="449884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cần chú ý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777240" y="475488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Tháng 6 là tháng cao nhất từ đầu năm về cả doanh thu và số giao dịch. Tuy nhiên 255,7 tỷ (38%) đến từ đơn mới đặt cọc, chưa ký hợp đồng mua bán — xem slide 5.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548640" y="5989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BDS_Claude.xlsx — sheet Data &amp; Kế hoạch.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LUẬN ĐIỂM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Quy mô tăng thật, nhờ kênh mới và phân khúc cao cấp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thu ghi nhận theo kênh bán và theo loại hình bất động sản, tỷ đồng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228832" y="5669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1228832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627632"/>
          <a:ext cx="56235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6263640" y="1627632"/>
          <a:ext cx="544068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029200"/>
            <a:ext cx="2697480" cy="1051560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9224" y="51389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 kiện mở bán  </a:t>
            </a:r>
            <a:pPr indent="0" marL="0">
              <a:buNone/>
            </a:pPr>
            <a:r>
              <a:rPr lang="en-US" sz="1400" b="1" dirty="0">
                <a:solidFill>
                  <a:srgbClr val="1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+359%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649224" y="546811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17,0 → 78,1 tỷ · 2 → 8 giao dịch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3364992" y="5029200"/>
            <a:ext cx="2697480" cy="1051560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511296" y="51389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/ Digital  </a:t>
            </a:r>
            <a:pPr indent="0" marL="0">
              <a:buNone/>
            </a:pPr>
            <a:r>
              <a:rPr lang="en-US" sz="1400" b="1" dirty="0">
                <a:solidFill>
                  <a:srgbClr val="1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+61%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511296" y="546811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69,5 → 111,6 tỷ dù số GD giảm 15 → 10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227064" y="5029200"/>
            <a:ext cx="2697480" cy="1051560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373368" y="51389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Biệt thự  </a:t>
            </a:r>
            <a:pPr indent="0" marL="0">
              <a:buNone/>
            </a:pPr>
            <a:r>
              <a:rPr lang="en-US" sz="1400" b="1" dirty="0">
                <a:solidFill>
                  <a:srgbClr val="1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+79%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373368" y="546811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Swan Bay Villas mở bán, 5 GD / 149,0 tỷ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9089136" y="5029200"/>
            <a:ext cx="2697480" cy="1051560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235440" y="51389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giới thiệu  </a:t>
            </a:r>
            <a:pPr indent="0" marL="0">
              <a:buNone/>
            </a:pPr>
            <a:r>
              <a:rPr lang="en-US" sz="1400" b="1" dirty="0">
                <a:solidFill>
                  <a:srgbClr val="B03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9235440" y="546811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duy nhất giảm: 70,5 → 65,5 tỷ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LUẬN ĐIỂM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Chất lượng doanh thu mỏng đi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Tăng trưởng nằm ở đơn chưa chốt — doanh thu ghi nhận tách theo trạng thái giao dịch, tỷ đồng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228832" y="5669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1228832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691640"/>
          <a:ext cx="6537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315200" y="1783080"/>
            <a:ext cx="4389120" cy="786384"/>
          </a:xfrm>
          <a:prstGeom prst="roundRect">
            <a:avLst>
              <a:gd name="adj" fmla="val 5814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0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HĐMB đã ký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498080" y="21488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413,1 tỷ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92640" y="19659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−2,7% so với T5 (424,5 tỷ)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0" y="2715768"/>
            <a:ext cx="4389120" cy="786384"/>
          </a:xfrm>
          <a:prstGeom prst="roundRect">
            <a:avLst>
              <a:gd name="adj" fmla="val 5814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0" y="2798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Mới đặt cọc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498080" y="308152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255,7 tỷ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9692640" y="289864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+146% so với T5 (103,9 tỷ)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315200" y="3648456"/>
            <a:ext cx="4389120" cy="786384"/>
          </a:xfrm>
          <a:prstGeom prst="roundRect">
            <a:avLst>
              <a:gd name="adj" fmla="val 5814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0" y="3730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giá bình quân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498080" y="401421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78,0 trđ/m²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9692640" y="383133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−9,9% — dịch sang đất nền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315200" y="4581144"/>
            <a:ext cx="4389120" cy="786384"/>
          </a:xfrm>
          <a:prstGeom prst="roundRect">
            <a:avLst>
              <a:gd name="adj" fmla="val 5814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98080" y="4663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Chiết khấu bình quân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498080" y="494690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2,94%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9692640" y="476402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+0,24 điểm % so với T5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02920" y="5440680"/>
            <a:ext cx="11201400" cy="868680"/>
          </a:xfrm>
          <a:prstGeom prst="roundRect">
            <a:avLst>
              <a:gd name="adj" fmla="val 5263"/>
            </a:avLst>
          </a:prstGeom>
          <a:solidFill>
            <a:srgbClr val="FBF4E7"/>
          </a:solidFill>
          <a:ln w="12700">
            <a:solidFill>
              <a:srgbClr val="EBD9B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5577840"/>
            <a:ext cx="10744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Ý nghĩa: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4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giao dịch đặt cọc trong tháng 6 quyết định doanh thu quý III. Nếu tỷ lệ chuyển cọc → HĐMB rơi về mức trung bình 6 tháng, phần lớn mức tăng 26,6% sẽ không hiện thực hoá.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LUẬN ĐIỂM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Tăng trưởng tập trung vào ít người bán, ít dự án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thu ghi nhận theo nhân viên sales, tỷ đồng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228832" y="5669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1228832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664208"/>
          <a:ext cx="667512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406640" y="1664208"/>
            <a:ext cx="2103120" cy="109728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71232" y="1783080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4 SALES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571232" y="2029968"/>
            <a:ext cx="1773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7571232" y="2505456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thu tháng 6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646920" y="1664208"/>
            <a:ext cx="2057400" cy="109728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811512" y="178308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SWAN BAY VILLAS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11512" y="2029968"/>
            <a:ext cx="172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2700" dirty="0"/>
          </a:p>
        </p:txBody>
      </p:sp>
      <p:sp>
        <p:nvSpPr>
          <p:cNvPr id="15" name="Text 12"/>
          <p:cNvSpPr/>
          <p:nvPr/>
        </p:nvSpPr>
        <p:spPr>
          <a:xfrm>
            <a:off x="9811512" y="2505456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thu tháng 6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406640" y="29260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 án đóng góp lớn nhất tháng 6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406640" y="3255264"/>
            <a:ext cx="4297680" cy="384048"/>
          </a:xfrm>
          <a:prstGeom prst="rect">
            <a:avLst/>
          </a:prstGeom>
          <a:solidFill>
            <a:srgbClr val="F4F6FB"/>
          </a:solidFill>
          <a:ln w="6350">
            <a:solidFill>
              <a:srgbClr val="F4F6F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16368" y="32735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Swan Bay Villas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601200" y="327355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149,0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10515600" y="327355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mới mở bán (T5: 0)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516368" y="367588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Manor Central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9601200" y="36758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92,8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10515600" y="3675888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+271%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406640" y="4059936"/>
            <a:ext cx="4297680" cy="384048"/>
          </a:xfrm>
          <a:prstGeom prst="rect">
            <a:avLst/>
          </a:prstGeom>
          <a:solidFill>
            <a:srgbClr val="F4F6FB"/>
          </a:solidFill>
          <a:ln w="6350">
            <a:solidFill>
              <a:srgbClr val="F4F6F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516368" y="407822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Grand Boulevard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9601200" y="407822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55,3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10515600" y="407822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−32%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7516368" y="44805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KDC Tân Phú Trung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9601200" y="44805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52,0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10515600" y="44805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+94%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406640" y="4864608"/>
            <a:ext cx="4297680" cy="384048"/>
          </a:xfrm>
          <a:prstGeom prst="rect">
            <a:avLst/>
          </a:prstGeom>
          <a:solidFill>
            <a:srgbClr val="F4F6FB"/>
          </a:solidFill>
          <a:ln w="6350">
            <a:solidFill>
              <a:srgbClr val="F4F6F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516368" y="488289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Ecopark Grand</a:t>
            </a:r>
            <a:endParaRPr lang="en-US" sz="1150" dirty="0"/>
          </a:p>
        </p:txBody>
      </p:sp>
      <p:sp>
        <p:nvSpPr>
          <p:cNvPr id="33" name="Text 30"/>
          <p:cNvSpPr/>
          <p:nvPr/>
        </p:nvSpPr>
        <p:spPr>
          <a:xfrm>
            <a:off x="9601200" y="488289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37,6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10515600" y="488289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−64%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16368" y="528523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Lavela Garden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9601200" y="528523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19,3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10515600" y="528523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−77%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7406640" y="57607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vị: tỷ đồng. Bốn nhân viên giảm so với tháng 5, sâu nhất là Đỗ Thanh Lam (−82%).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ĐỊNH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nhận định chính và phần nguyên nhân cần bổ sung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“Nguyên nhân” để trống — anh/chị điền bối cảnh thực tế trước khi trình bày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46520" cy="960120"/>
          </a:xfrm>
          <a:prstGeom prst="roundRect">
            <a:avLst>
              <a:gd name="adj" fmla="val 4762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06654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66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61872" y="189280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Tăng trưởng đến từ đơn chưa chốt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261872" y="218541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thu +26,6% nhưng HĐMB đã ký −2,7%; chênh lệch nằm ở 23 đơn đặt cọc trị giá 255,7 tỷ.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178040" y="1783080"/>
            <a:ext cx="44348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9C2D6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360920" y="188366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NHÂN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60920" y="21671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9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Điền tại đây 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880360"/>
            <a:ext cx="6446520" cy="960120"/>
          </a:xfrm>
          <a:prstGeom prst="roundRect">
            <a:avLst>
              <a:gd name="adj" fmla="val 4762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16382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61872" y="2990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cấu kênh bán dịch chuyển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261872" y="328269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 kiện mở bán +359% và Online/Digital +61%; tỷ trọng Sàn nội bộ F1 giảm từ 45% xuống 39%.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78040" y="2880360"/>
            <a:ext cx="44348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9C2D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7360920" y="298094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NHÂN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60920" y="32644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9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Điền tại đây ]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6446520" cy="960120"/>
          </a:xfrm>
          <a:prstGeom prst="roundRect">
            <a:avLst>
              <a:gd name="adj" fmla="val 4762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426110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61872" y="408736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Đơn giá giảm, chiết khấu tăng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261872" y="437997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giá bình quân 86,6 → 78,0 trđ/m² do đất nền chiếm 31% số giao dịch (T5: 22%); chiết khấu lên 2,94%.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178040" y="3977640"/>
            <a:ext cx="44348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9C2D6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7360920" y="407822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NHÂN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360920" y="436168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9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Điền tại đây ]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074920"/>
            <a:ext cx="6446520" cy="960120"/>
          </a:xfrm>
          <a:prstGeom prst="roundRect">
            <a:avLst>
              <a:gd name="adj" fmla="val 4762"/>
            </a:avLst>
          </a:prstGeom>
          <a:solidFill>
            <a:srgbClr val="F4F6FB"/>
          </a:solidFill>
          <a:ln w="12700">
            <a:solidFill>
              <a:srgbClr val="E1E7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535838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535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261872" y="51846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phụ thuộc số ít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261872" y="54772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4/10 sales tạo 63% doanh thu, Swan Bay Villas chiếm 22%; 4 sales giảm sâu so với tháng 5.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178040" y="5074920"/>
            <a:ext cx="443484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B9C2D6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7360920" y="517550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NHÂN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360920" y="54589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9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Điền tại đây ]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8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TIẾP THEO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việc cần chốt trong tháng 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264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phụ trách và hạn hoàn thành để trống — anh/chị phân công khi trình bày.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349240" cy="1737360"/>
          </a:xfrm>
          <a:prstGeom prst="roundRect">
            <a:avLst>
              <a:gd name="adj" fmla="val 2632"/>
            </a:avLst>
          </a:prstGeom>
          <a:solidFill>
            <a:srgbClr val="2E3F7F"/>
          </a:solidFill>
          <a:ln w="12700">
            <a:solidFill>
              <a:srgbClr val="3D4E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221992"/>
            <a:ext cx="384048" cy="384048"/>
          </a:xfrm>
          <a:prstGeom prst="ellipse">
            <a:avLst/>
          </a:prstGeom>
          <a:solidFill>
            <a:srgbClr val="C8891F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2037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 dõi chuyển đổi cọc → HĐMB hàng tuần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267919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255,7 tỷ đang nằm ở 23 đơn đặt cọc. Đây là biến số quyết định kết quả quý III.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6112" y="3337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phụ trách: [ ____ ]     ·     Hạn: [ ____ ]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349240" cy="1737360"/>
          </a:xfrm>
          <a:prstGeom prst="roundRect">
            <a:avLst>
              <a:gd name="adj" fmla="val 2632"/>
            </a:avLst>
          </a:prstGeom>
          <a:solidFill>
            <a:srgbClr val="2E3F7F"/>
          </a:solidFill>
          <a:ln w="12700">
            <a:solidFill>
              <a:srgbClr val="3D4E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19672" y="2221992"/>
            <a:ext cx="384048" cy="384048"/>
          </a:xfrm>
          <a:prstGeom prst="ellipse">
            <a:avLst/>
          </a:prstGeom>
          <a:solidFill>
            <a:srgbClr val="C8891F"/>
          </a:solidFill>
          <a:ln/>
        </p:spPr>
      </p:sp>
      <p:sp>
        <p:nvSpPr>
          <p:cNvPr id="13" name="Text 11"/>
          <p:cNvSpPr/>
          <p:nvPr/>
        </p:nvSpPr>
        <p:spPr>
          <a:xfrm>
            <a:off x="6519672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40880" y="22037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chi phí / hiệu quả kênh Sự kiện mở bán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267919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tăng 359% nhưng nền tháng 5 chỉ 2 giao dịch — cần soi chi phí trước khi nhân rộng.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19672" y="3337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phụ trách: [ ____ ]     ·     Hạn: [ ____ ]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931920"/>
            <a:ext cx="5349240" cy="1737360"/>
          </a:xfrm>
          <a:prstGeom prst="roundRect">
            <a:avLst>
              <a:gd name="adj" fmla="val 2632"/>
            </a:avLst>
          </a:prstGeom>
          <a:solidFill>
            <a:srgbClr val="2E3F7F"/>
          </a:solidFill>
          <a:ln w="12700">
            <a:solidFill>
              <a:srgbClr val="3D4E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6112" y="4187952"/>
            <a:ext cx="384048" cy="384048"/>
          </a:xfrm>
          <a:prstGeom prst="ellipse">
            <a:avLst/>
          </a:prstGeom>
          <a:solidFill>
            <a:srgbClr val="C8891F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17320" y="416966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Rà soát chính sách chiết khấu nhóm đất nền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112" y="464515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Đất nền kéo đơn giá bình quân xuống 9,9% trong khi chiết khấu bình quân tăng.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6112" y="5303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phụ trách: [ ____ ]     ·     Hạn: [ ____ ]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931920"/>
            <a:ext cx="5349240" cy="1737360"/>
          </a:xfrm>
          <a:prstGeom prst="roundRect">
            <a:avLst>
              <a:gd name="adj" fmla="val 2632"/>
            </a:avLst>
          </a:prstGeom>
          <a:solidFill>
            <a:srgbClr val="2E3F7F"/>
          </a:solidFill>
          <a:ln w="12700">
            <a:solidFill>
              <a:srgbClr val="3D4E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19672" y="4187952"/>
            <a:ext cx="384048" cy="384048"/>
          </a:xfrm>
          <a:prstGeom prst="ellipse">
            <a:avLst/>
          </a:prstGeom>
          <a:solidFill>
            <a:srgbClr val="C8891F"/>
          </a:solidFill>
          <a:ln/>
        </p:spPr>
      </p:sp>
      <p:sp>
        <p:nvSpPr>
          <p:cNvPr id="25" name="Text 23"/>
          <p:cNvSpPr/>
          <p:nvPr/>
        </p:nvSpPr>
        <p:spPr>
          <a:xfrm>
            <a:off x="6519672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040880" y="416966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Kèm cặp 4 nhân viên sụt giảm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19672" y="464515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Đỗ Thanh Lam −82%, Trần Thị Bích −54%, Nguyễn Văn An −48%, Phạm Quốc Dũng −19%.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19672" y="5303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phụ trách: [ ____ ]     ·     Hạn: [ ____ ]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40080" y="605332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3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số liệu: BDS_Claude.xlsx — sheet Data (420 giao dịch) và sheet Kế hoạch. Dữ liệu mô phỏng.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Kết quả kinh doanh tháng 6/2026</dc:title>
  <dc:subject>PptxGenJS Presentation</dc:subject>
  <dc:creator>MARIO</dc:creator>
  <cp:lastModifiedBy>MARIO</cp:lastModifiedBy>
  <cp:revision>1</cp:revision>
  <dcterms:created xsi:type="dcterms:W3CDTF">2026-08-15T14:50:32Z</dcterms:created>
  <dcterms:modified xsi:type="dcterms:W3CDTF">2026-08-15T14:50:32Z</dcterms:modified>
</cp:coreProperties>
</file>