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9" d="100"/>
          <a:sy n="69" d="100"/>
        </p:scale>
        <p:origin x="76"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300" b="0" i="0" u="none" strike="noStrike">
                <a:solidFill>
                  <a:srgbClr val="1E2761"/>
                </a:solidFill>
                <a:latin typeface="Cambria"/>
              </a:defRPr>
            </a:pPr>
            <a:r>
              <a:rPr lang="vi-VN" sz="1300" b="0" i="0" u="none" strike="noStrike">
                <a:solidFill>
                  <a:srgbClr val="1E2761"/>
                </a:solidFill>
                <a:latin typeface="Cambria"/>
              </a:rPr>
              <a:t>Doanh thu ghi nhận theo tháng (tỷ đồng)</a:t>
            </a:r>
          </a:p>
        </c:rich>
      </c:tx>
      <c:overlay val="0"/>
    </c:title>
    <c:autoTitleDeleted val="0"/>
    <c:plotArea>
      <c:layout/>
      <c:barChart>
        <c:barDir val="col"/>
        <c:grouping val="clustered"/>
        <c:varyColors val="0"/>
        <c:ser>
          <c:idx val="0"/>
          <c:order val="0"/>
          <c:tx>
            <c:strRef>
              <c:f>Sheet1!$B$1</c:f>
              <c:strCache>
                <c:ptCount val="1"/>
                <c:pt idx="0">
                  <c:v>Doanh thu ghi nhận (tỷ đ)</c:v>
                </c:pt>
              </c:strCache>
            </c:strRef>
          </c:tx>
          <c:spPr>
            <a:solidFill>
              <a:srgbClr val="B8C6E0"/>
            </a:solidFill>
            <a:effectLst/>
          </c:spPr>
          <c:invertIfNegative val="0"/>
          <c:dPt>
            <c:idx val="0"/>
            <c:invertIfNegative val="0"/>
            <c:bubble3D val="0"/>
            <c:spPr>
              <a:solidFill>
                <a:srgbClr val="B8C6E0"/>
              </a:solidFill>
              <a:effectLst/>
            </c:spPr>
            <c:extLst>
              <c:ext xmlns:c16="http://schemas.microsoft.com/office/drawing/2014/chart" uri="{C3380CC4-5D6E-409C-BE32-E72D297353CC}">
                <c16:uniqueId val="{00000001-AB11-40DF-837C-B7DC1EDCDED7}"/>
              </c:ext>
            </c:extLst>
          </c:dPt>
          <c:dPt>
            <c:idx val="1"/>
            <c:invertIfNegative val="0"/>
            <c:bubble3D val="0"/>
            <c:spPr>
              <a:solidFill>
                <a:srgbClr val="B8C6E0"/>
              </a:solidFill>
              <a:effectLst/>
            </c:spPr>
            <c:extLst>
              <c:ext xmlns:c16="http://schemas.microsoft.com/office/drawing/2014/chart" uri="{C3380CC4-5D6E-409C-BE32-E72D297353CC}">
                <c16:uniqueId val="{00000003-AB11-40DF-837C-B7DC1EDCDED7}"/>
              </c:ext>
            </c:extLst>
          </c:dPt>
          <c:dPt>
            <c:idx val="2"/>
            <c:invertIfNegative val="0"/>
            <c:bubble3D val="0"/>
            <c:spPr>
              <a:solidFill>
                <a:srgbClr val="B8C6E0"/>
              </a:solidFill>
              <a:effectLst/>
            </c:spPr>
            <c:extLst>
              <c:ext xmlns:c16="http://schemas.microsoft.com/office/drawing/2014/chart" uri="{C3380CC4-5D6E-409C-BE32-E72D297353CC}">
                <c16:uniqueId val="{00000005-AB11-40DF-837C-B7DC1EDCDED7}"/>
              </c:ext>
            </c:extLst>
          </c:dPt>
          <c:dPt>
            <c:idx val="3"/>
            <c:invertIfNegative val="0"/>
            <c:bubble3D val="0"/>
            <c:spPr>
              <a:solidFill>
                <a:srgbClr val="B8C6E0"/>
              </a:solidFill>
              <a:effectLst/>
            </c:spPr>
            <c:extLst>
              <c:ext xmlns:c16="http://schemas.microsoft.com/office/drawing/2014/chart" uri="{C3380CC4-5D6E-409C-BE32-E72D297353CC}">
                <c16:uniqueId val="{00000007-AB11-40DF-837C-B7DC1EDCDED7}"/>
              </c:ext>
            </c:extLst>
          </c:dPt>
          <c:dPt>
            <c:idx val="4"/>
            <c:invertIfNegative val="0"/>
            <c:bubble3D val="0"/>
            <c:spPr>
              <a:solidFill>
                <a:srgbClr val="B8C6E0"/>
              </a:solidFill>
              <a:effectLst/>
            </c:spPr>
            <c:extLst>
              <c:ext xmlns:c16="http://schemas.microsoft.com/office/drawing/2014/chart" uri="{C3380CC4-5D6E-409C-BE32-E72D297353CC}">
                <c16:uniqueId val="{00000009-AB11-40DF-837C-B7DC1EDCDED7}"/>
              </c:ext>
            </c:extLst>
          </c:dPt>
          <c:dPt>
            <c:idx val="5"/>
            <c:invertIfNegative val="0"/>
            <c:bubble3D val="0"/>
            <c:spPr>
              <a:solidFill>
                <a:srgbClr val="1E2761"/>
              </a:solidFill>
              <a:effectLst/>
            </c:spPr>
            <c:extLst>
              <c:ext xmlns:c16="http://schemas.microsoft.com/office/drawing/2014/chart" uri="{C3380CC4-5D6E-409C-BE32-E72D297353CC}">
                <c16:uniqueId val="{0000000B-AB11-40DF-837C-B7DC1EDCDED7}"/>
              </c:ext>
            </c:extLst>
          </c:dPt>
          <c:dLbls>
            <c:numFmt formatCode="#,##0" sourceLinked="0"/>
            <c:spPr>
              <a:noFill/>
              <a:ln>
                <a:noFill/>
              </a:ln>
              <a:effectLst/>
            </c:spPr>
            <c:txPr>
              <a:bodyPr/>
              <a:lstStyle/>
              <a:p>
                <a:pPr>
                  <a:defRPr sz="900" b="0" i="0" u="none" strike="noStrike">
                    <a:solidFill>
                      <a:srgbClr val="44506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T1</c:v>
                </c:pt>
                <c:pt idx="1">
                  <c:v>T2</c:v>
                </c:pt>
                <c:pt idx="2">
                  <c:v>T3</c:v>
                </c:pt>
                <c:pt idx="3">
                  <c:v>T4</c:v>
                </c:pt>
                <c:pt idx="4">
                  <c:v>T5</c:v>
                </c:pt>
                <c:pt idx="5">
                  <c:v>T6</c:v>
                </c:pt>
              </c:strCache>
            </c:strRef>
          </c:cat>
          <c:val>
            <c:numRef>
              <c:f>Sheet1!$B$2:$B$7</c:f>
              <c:numCache>
                <c:formatCode>General</c:formatCode>
                <c:ptCount val="6"/>
                <c:pt idx="0">
                  <c:v>459.7</c:v>
                </c:pt>
                <c:pt idx="1">
                  <c:v>385.8</c:v>
                </c:pt>
                <c:pt idx="2">
                  <c:v>539.1</c:v>
                </c:pt>
                <c:pt idx="3">
                  <c:v>617.1</c:v>
                </c:pt>
                <c:pt idx="4">
                  <c:v>528.4</c:v>
                </c:pt>
                <c:pt idx="5">
                  <c:v>668.7</c:v>
                </c:pt>
              </c:numCache>
            </c:numRef>
          </c:val>
          <c:extLst>
            <c:ext xmlns:c16="http://schemas.microsoft.com/office/drawing/2014/chart" uri="{C3380CC4-5D6E-409C-BE32-E72D297353CC}">
              <c16:uniqueId val="{0000000C-AB11-40DF-837C-B7DC1EDCDED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06B"/>
                </a:solidFill>
                <a:latin typeface="Calibri"/>
              </a:defRPr>
            </a:pPr>
            <a:endParaRPr lang="en-US"/>
          </a:p>
        </c:txPr>
        <c:crossAx val="2094734552"/>
        <c:crosses val="autoZero"/>
        <c:auto val="1"/>
        <c:lblAlgn val="ctr"/>
        <c:lblOffset val="100"/>
        <c:noMultiLvlLbl val="1"/>
      </c:catAx>
      <c:valAx>
        <c:axId val="2094734552"/>
        <c:scaling>
          <c:orientation val="minMax"/>
          <c:max val="800"/>
          <c:min val="0"/>
        </c:scaling>
        <c:delete val="0"/>
        <c:axPos val="l"/>
        <c:majorGridlines>
          <c:spPr>
            <a:ln w="12700" cap="flat">
              <a:solidFill>
                <a:srgbClr val="E8EC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92A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300" b="0" i="0" u="none" strike="noStrike">
                <a:solidFill>
                  <a:srgbClr val="1E2761"/>
                </a:solidFill>
                <a:latin typeface="Cambria"/>
              </a:defRPr>
            </a:pPr>
            <a:r>
              <a:rPr lang="vi-VN" sz="1300" b="0" i="0" u="none" strike="noStrike">
                <a:solidFill>
                  <a:srgbClr val="1E2761"/>
                </a:solidFill>
                <a:latin typeface="Cambria"/>
              </a:rPr>
              <a:t>Theo kênh bán</a:t>
            </a:r>
          </a:p>
        </c:rich>
      </c:tx>
      <c:overlay val="0"/>
    </c:title>
    <c:autoTitleDeleted val="0"/>
    <c:plotArea>
      <c:layout/>
      <c:barChart>
        <c:barDir val="bar"/>
        <c:grouping val="clustered"/>
        <c:varyColors val="0"/>
        <c:ser>
          <c:idx val="0"/>
          <c:order val="0"/>
          <c:tx>
            <c:strRef>
              <c:f>Sheet1!$B$1</c:f>
              <c:strCache>
                <c:ptCount val="1"/>
                <c:pt idx="0">
                  <c:v>Tháng 5</c:v>
                </c:pt>
              </c:strCache>
            </c:strRef>
          </c:tx>
          <c:spPr>
            <a:solidFill>
              <a:srgbClr val="B8C6E0"/>
            </a:solidFill>
            <a:effectLst/>
          </c:spPr>
          <c:invertIfNegative val="0"/>
          <c:dLbls>
            <c:numFmt formatCode="#,##0" sourceLinked="0"/>
            <c:spPr>
              <a:noFill/>
              <a:ln>
                <a:noFill/>
              </a:ln>
              <a:effectLst/>
            </c:spPr>
            <c:txPr>
              <a:bodyPr/>
              <a:lstStyle/>
              <a:p>
                <a:pPr>
                  <a:defRPr sz="900" b="0" i="0" u="none" strike="noStrike">
                    <a:solidFill>
                      <a:srgbClr val="44506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Khách giới thiệu</c:v>
                </c:pt>
                <c:pt idx="1">
                  <c:v>Sự kiện mở bán</c:v>
                </c:pt>
                <c:pt idx="2">
                  <c:v>Online / Digital</c:v>
                </c:pt>
                <c:pt idx="3">
                  <c:v>Đại lý F2</c:v>
                </c:pt>
                <c:pt idx="4">
                  <c:v>Sàn nội bộ (F1)</c:v>
                </c:pt>
              </c:strCache>
            </c:strRef>
          </c:cat>
          <c:val>
            <c:numRef>
              <c:f>Sheet1!$B$2:$B$6</c:f>
              <c:numCache>
                <c:formatCode>General</c:formatCode>
                <c:ptCount val="5"/>
                <c:pt idx="0">
                  <c:v>70.5</c:v>
                </c:pt>
                <c:pt idx="1">
                  <c:v>17</c:v>
                </c:pt>
                <c:pt idx="2">
                  <c:v>69.5</c:v>
                </c:pt>
                <c:pt idx="3">
                  <c:v>132.30000000000001</c:v>
                </c:pt>
                <c:pt idx="4">
                  <c:v>239.1</c:v>
                </c:pt>
              </c:numCache>
            </c:numRef>
          </c:val>
          <c:extLst>
            <c:ext xmlns:c16="http://schemas.microsoft.com/office/drawing/2014/chart" uri="{C3380CC4-5D6E-409C-BE32-E72D297353CC}">
              <c16:uniqueId val="{00000000-6F94-4CA6-9B80-A075ECFE0627}"/>
            </c:ext>
          </c:extLst>
        </c:ser>
        <c:ser>
          <c:idx val="1"/>
          <c:order val="1"/>
          <c:tx>
            <c:strRef>
              <c:f>Sheet1!$C$1</c:f>
              <c:strCache>
                <c:ptCount val="1"/>
                <c:pt idx="0">
                  <c:v>Tháng 6</c:v>
                </c:pt>
              </c:strCache>
            </c:strRef>
          </c:tx>
          <c:spPr>
            <a:solidFill>
              <a:srgbClr val="1E2761"/>
            </a:solidFill>
            <a:effectLst/>
          </c:spPr>
          <c:invertIfNegative val="0"/>
          <c:dLbls>
            <c:numFmt formatCode="#,##0" sourceLinked="0"/>
            <c:spPr>
              <a:noFill/>
              <a:ln>
                <a:noFill/>
              </a:ln>
              <a:effectLst/>
            </c:spPr>
            <c:txPr>
              <a:bodyPr/>
              <a:lstStyle/>
              <a:p>
                <a:pPr>
                  <a:defRPr sz="900" b="0" i="0" u="none" strike="noStrike">
                    <a:solidFill>
                      <a:srgbClr val="44506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Khách giới thiệu</c:v>
                </c:pt>
                <c:pt idx="1">
                  <c:v>Sự kiện mở bán</c:v>
                </c:pt>
                <c:pt idx="2">
                  <c:v>Online / Digital</c:v>
                </c:pt>
                <c:pt idx="3">
                  <c:v>Đại lý F2</c:v>
                </c:pt>
                <c:pt idx="4">
                  <c:v>Sàn nội bộ (F1)</c:v>
                </c:pt>
              </c:strCache>
            </c:strRef>
          </c:cat>
          <c:val>
            <c:numRef>
              <c:f>Sheet1!$C$2:$C$6</c:f>
              <c:numCache>
                <c:formatCode>General</c:formatCode>
                <c:ptCount val="5"/>
                <c:pt idx="0">
                  <c:v>65.5</c:v>
                </c:pt>
                <c:pt idx="1">
                  <c:v>78.099999999999994</c:v>
                </c:pt>
                <c:pt idx="2">
                  <c:v>111.6</c:v>
                </c:pt>
                <c:pt idx="3">
                  <c:v>154.6</c:v>
                </c:pt>
                <c:pt idx="4">
                  <c:v>258.89999999999998</c:v>
                </c:pt>
              </c:numCache>
            </c:numRef>
          </c:val>
          <c:extLst>
            <c:ext xmlns:c16="http://schemas.microsoft.com/office/drawing/2014/chart" uri="{C3380CC4-5D6E-409C-BE32-E72D297353CC}">
              <c16:uniqueId val="{00000001-6F94-4CA6-9B80-A075ECFE062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06B"/>
                </a:solidFill>
                <a:latin typeface="Calibri"/>
              </a:defRPr>
            </a:pPr>
            <a:endParaRPr lang="en-US"/>
          </a:p>
        </c:txPr>
        <c:crossAx val="2094734552"/>
        <c:crosses val="autoZero"/>
        <c:auto val="1"/>
        <c:lblAlgn val="ctr"/>
        <c:lblOffset val="100"/>
        <c:noMultiLvlLbl val="1"/>
      </c:catAx>
      <c:valAx>
        <c:axId val="2094734552"/>
        <c:scaling>
          <c:orientation val="minMax"/>
          <c:max val="320"/>
          <c:min val="0"/>
        </c:scaling>
        <c:delete val="0"/>
        <c:axPos val="b"/>
        <c:majorGridlines>
          <c:spPr>
            <a:ln w="12700" cap="flat">
              <a:solidFill>
                <a:srgbClr val="E8EC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892A8"/>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44506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300" b="0" i="0" u="none" strike="noStrike">
                <a:solidFill>
                  <a:srgbClr val="1E2761"/>
                </a:solidFill>
                <a:latin typeface="Cambria"/>
              </a:defRPr>
            </a:pPr>
            <a:r>
              <a:rPr lang="vi-VN" sz="1300" b="0" i="0" u="none" strike="noStrike">
                <a:solidFill>
                  <a:srgbClr val="1E2761"/>
                </a:solidFill>
                <a:latin typeface="Cambria"/>
              </a:rPr>
              <a:t>Theo loại hình BĐS</a:t>
            </a:r>
          </a:p>
        </c:rich>
      </c:tx>
      <c:overlay val="0"/>
    </c:title>
    <c:autoTitleDeleted val="0"/>
    <c:plotArea>
      <c:layout/>
      <c:barChart>
        <c:barDir val="bar"/>
        <c:grouping val="clustered"/>
        <c:varyColors val="0"/>
        <c:ser>
          <c:idx val="0"/>
          <c:order val="0"/>
          <c:tx>
            <c:strRef>
              <c:f>Sheet1!$B$1</c:f>
              <c:strCache>
                <c:ptCount val="1"/>
                <c:pt idx="0">
                  <c:v>Tháng 5</c:v>
                </c:pt>
              </c:strCache>
            </c:strRef>
          </c:tx>
          <c:spPr>
            <a:solidFill>
              <a:srgbClr val="B8C6E0"/>
            </a:solidFill>
            <a:effectLst/>
          </c:spPr>
          <c:invertIfNegative val="0"/>
          <c:dLbls>
            <c:numFmt formatCode="#,##0" sourceLinked="0"/>
            <c:spPr>
              <a:noFill/>
              <a:ln>
                <a:noFill/>
              </a:ln>
              <a:effectLst/>
            </c:spPr>
            <c:txPr>
              <a:bodyPr/>
              <a:lstStyle/>
              <a:p>
                <a:pPr>
                  <a:defRPr sz="900" b="0" i="0" u="none" strike="noStrike">
                    <a:solidFill>
                      <a:srgbClr val="44506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Condotel</c:v>
                </c:pt>
                <c:pt idx="1">
                  <c:v>Shophouse</c:v>
                </c:pt>
                <c:pt idx="2">
                  <c:v>Căn hộ chung cư</c:v>
                </c:pt>
                <c:pt idx="3">
                  <c:v>Đất nền</c:v>
                </c:pt>
                <c:pt idx="4">
                  <c:v>Nhà phố / Liền kề</c:v>
                </c:pt>
                <c:pt idx="5">
                  <c:v>Biệt thự</c:v>
                </c:pt>
              </c:strCache>
            </c:strRef>
          </c:cat>
          <c:val>
            <c:numRef>
              <c:f>Sheet1!$B$2:$B$7</c:f>
              <c:numCache>
                <c:formatCode>General</c:formatCode>
                <c:ptCount val="6"/>
                <c:pt idx="0">
                  <c:v>16.8</c:v>
                </c:pt>
                <c:pt idx="1">
                  <c:v>127.7</c:v>
                </c:pt>
                <c:pt idx="2">
                  <c:v>88.6</c:v>
                </c:pt>
                <c:pt idx="3">
                  <c:v>61.8</c:v>
                </c:pt>
                <c:pt idx="4">
                  <c:v>129.30000000000001</c:v>
                </c:pt>
                <c:pt idx="5">
                  <c:v>104.2</c:v>
                </c:pt>
              </c:numCache>
            </c:numRef>
          </c:val>
          <c:extLst>
            <c:ext xmlns:c16="http://schemas.microsoft.com/office/drawing/2014/chart" uri="{C3380CC4-5D6E-409C-BE32-E72D297353CC}">
              <c16:uniqueId val="{00000000-186B-4241-827E-69354AE68558}"/>
            </c:ext>
          </c:extLst>
        </c:ser>
        <c:ser>
          <c:idx val="1"/>
          <c:order val="1"/>
          <c:tx>
            <c:strRef>
              <c:f>Sheet1!$C$1</c:f>
              <c:strCache>
                <c:ptCount val="1"/>
                <c:pt idx="0">
                  <c:v>Tháng 6</c:v>
                </c:pt>
              </c:strCache>
            </c:strRef>
          </c:tx>
          <c:spPr>
            <a:solidFill>
              <a:srgbClr val="1E2761"/>
            </a:solidFill>
            <a:effectLst/>
          </c:spPr>
          <c:invertIfNegative val="0"/>
          <c:dLbls>
            <c:numFmt formatCode="#,##0" sourceLinked="0"/>
            <c:spPr>
              <a:noFill/>
              <a:ln>
                <a:noFill/>
              </a:ln>
              <a:effectLst/>
            </c:spPr>
            <c:txPr>
              <a:bodyPr/>
              <a:lstStyle/>
              <a:p>
                <a:pPr>
                  <a:defRPr sz="900" b="0" i="0" u="none" strike="noStrike">
                    <a:solidFill>
                      <a:srgbClr val="44506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Condotel</c:v>
                </c:pt>
                <c:pt idx="1">
                  <c:v>Shophouse</c:v>
                </c:pt>
                <c:pt idx="2">
                  <c:v>Căn hộ chung cư</c:v>
                </c:pt>
                <c:pt idx="3">
                  <c:v>Đất nền</c:v>
                </c:pt>
                <c:pt idx="4">
                  <c:v>Nhà phố / Liền kề</c:v>
                </c:pt>
                <c:pt idx="5">
                  <c:v>Biệt thự</c:v>
                </c:pt>
              </c:strCache>
            </c:strRef>
          </c:cat>
          <c:val>
            <c:numRef>
              <c:f>Sheet1!$C$2:$C$7</c:f>
              <c:numCache>
                <c:formatCode>General</c:formatCode>
                <c:ptCount val="6"/>
                <c:pt idx="0">
                  <c:v>23.5</c:v>
                </c:pt>
                <c:pt idx="1">
                  <c:v>89.4</c:v>
                </c:pt>
                <c:pt idx="2">
                  <c:v>98.3</c:v>
                </c:pt>
                <c:pt idx="3">
                  <c:v>134.4</c:v>
                </c:pt>
                <c:pt idx="4">
                  <c:v>136.5</c:v>
                </c:pt>
                <c:pt idx="5">
                  <c:v>186.6</c:v>
                </c:pt>
              </c:numCache>
            </c:numRef>
          </c:val>
          <c:extLst>
            <c:ext xmlns:c16="http://schemas.microsoft.com/office/drawing/2014/chart" uri="{C3380CC4-5D6E-409C-BE32-E72D297353CC}">
              <c16:uniqueId val="{00000001-186B-4241-827E-69354AE6855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06B"/>
                </a:solidFill>
                <a:latin typeface="Calibri"/>
              </a:defRPr>
            </a:pPr>
            <a:endParaRPr lang="en-US"/>
          </a:p>
        </c:txPr>
        <c:crossAx val="2094734552"/>
        <c:crosses val="autoZero"/>
        <c:auto val="1"/>
        <c:lblAlgn val="ctr"/>
        <c:lblOffset val="100"/>
        <c:noMultiLvlLbl val="1"/>
      </c:catAx>
      <c:valAx>
        <c:axId val="2094734552"/>
        <c:scaling>
          <c:orientation val="minMax"/>
          <c:max val="230"/>
          <c:min val="0"/>
        </c:scaling>
        <c:delete val="0"/>
        <c:axPos val="b"/>
        <c:majorGridlines>
          <c:spPr>
            <a:ln w="12700" cap="flat">
              <a:solidFill>
                <a:srgbClr val="E8EC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892A8"/>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44506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300" b="0" i="0" u="none" strike="noStrike">
                <a:solidFill>
                  <a:srgbClr val="1E2761"/>
                </a:solidFill>
                <a:latin typeface="Cambria"/>
              </a:defRPr>
            </a:pPr>
            <a:r>
              <a:rPr lang="vi-VN" sz="1300" b="0" i="0" u="none" strike="noStrike">
                <a:solidFill>
                  <a:srgbClr val="1E2761"/>
                </a:solidFill>
                <a:latin typeface="Cambria"/>
              </a:rPr>
              <a:t>Đã ký hợp đồng mua bán so với mới đặt cọc</a:t>
            </a:r>
          </a:p>
        </c:rich>
      </c:tx>
      <c:overlay val="0"/>
    </c:title>
    <c:autoTitleDeleted val="0"/>
    <c:plotArea>
      <c:layout/>
      <c:barChart>
        <c:barDir val="col"/>
        <c:grouping val="stacked"/>
        <c:varyColors val="0"/>
        <c:ser>
          <c:idx val="0"/>
          <c:order val="0"/>
          <c:tx>
            <c:strRef>
              <c:f>Sheet1!$B$1</c:f>
              <c:strCache>
                <c:ptCount val="1"/>
                <c:pt idx="0">
                  <c:v>Đã ký HĐMB</c:v>
                </c:pt>
              </c:strCache>
            </c:strRef>
          </c:tx>
          <c:spPr>
            <a:solidFill>
              <a:srgbClr val="1E2761"/>
            </a:solidFill>
            <a:effectLst/>
          </c:spPr>
          <c:invertIfNegative val="0"/>
          <c:dLbls>
            <c:numFmt formatCode="#,##0" sourceLinked="0"/>
            <c:spPr>
              <a:noFill/>
              <a:ln>
                <a:noFill/>
              </a:ln>
              <a:effectLst/>
            </c:spPr>
            <c:txPr>
              <a:bodyPr/>
              <a:lstStyle/>
              <a:p>
                <a:pPr>
                  <a:defRPr sz="1000" b="0" i="0" u="none" strike="noStrike">
                    <a:solidFill>
                      <a:srgbClr val="FFFFFF"/>
                    </a:solidFill>
                    <a:latin typeface="Calibri"/>
                  </a:defRPr>
                </a:pPr>
                <a:endParaRPr lang="vi-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T1</c:v>
                </c:pt>
                <c:pt idx="1">
                  <c:v>T2</c:v>
                </c:pt>
                <c:pt idx="2">
                  <c:v>T3</c:v>
                </c:pt>
                <c:pt idx="3">
                  <c:v>T4</c:v>
                </c:pt>
                <c:pt idx="4">
                  <c:v>T5</c:v>
                </c:pt>
                <c:pt idx="5">
                  <c:v>T6</c:v>
                </c:pt>
              </c:strCache>
            </c:strRef>
          </c:cat>
          <c:val>
            <c:numRef>
              <c:f>Sheet1!$B$2:$B$7</c:f>
              <c:numCache>
                <c:formatCode>General</c:formatCode>
                <c:ptCount val="6"/>
                <c:pt idx="0">
                  <c:v>344.4</c:v>
                </c:pt>
                <c:pt idx="1">
                  <c:v>230.5</c:v>
                </c:pt>
                <c:pt idx="2">
                  <c:v>299.89999999999998</c:v>
                </c:pt>
                <c:pt idx="3">
                  <c:v>446.1</c:v>
                </c:pt>
                <c:pt idx="4">
                  <c:v>424.5</c:v>
                </c:pt>
                <c:pt idx="5">
                  <c:v>413.1</c:v>
                </c:pt>
              </c:numCache>
            </c:numRef>
          </c:val>
          <c:extLst>
            <c:ext xmlns:c16="http://schemas.microsoft.com/office/drawing/2014/chart" uri="{C3380CC4-5D6E-409C-BE32-E72D297353CC}">
              <c16:uniqueId val="{00000000-24D1-4B1F-96B7-72FBA76FFA5B}"/>
            </c:ext>
          </c:extLst>
        </c:ser>
        <c:ser>
          <c:idx val="1"/>
          <c:order val="1"/>
          <c:tx>
            <c:strRef>
              <c:f>Sheet1!$C$1</c:f>
              <c:strCache>
                <c:ptCount val="1"/>
                <c:pt idx="0">
                  <c:v>Mới đặt cọc</c:v>
                </c:pt>
              </c:strCache>
            </c:strRef>
          </c:tx>
          <c:spPr>
            <a:solidFill>
              <a:srgbClr val="C8891F"/>
            </a:solidFill>
            <a:effectLst/>
          </c:spPr>
          <c:invertIfNegative val="0"/>
          <c:dLbls>
            <c:numFmt formatCode="#,##0" sourceLinked="0"/>
            <c:spPr>
              <a:noFill/>
              <a:ln>
                <a:noFill/>
              </a:ln>
              <a:effectLst/>
            </c:spPr>
            <c:txPr>
              <a:bodyPr/>
              <a:lstStyle/>
              <a:p>
                <a:pPr>
                  <a:defRPr sz="1000" b="0" i="0" u="none" strike="noStrike">
                    <a:solidFill>
                      <a:srgbClr val="FFFFFF"/>
                    </a:solidFill>
                    <a:latin typeface="Calibri"/>
                  </a:defRPr>
                </a:pPr>
                <a:endParaRPr lang="vi-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T1</c:v>
                </c:pt>
                <c:pt idx="1">
                  <c:v>T2</c:v>
                </c:pt>
                <c:pt idx="2">
                  <c:v>T3</c:v>
                </c:pt>
                <c:pt idx="3">
                  <c:v>T4</c:v>
                </c:pt>
                <c:pt idx="4">
                  <c:v>T5</c:v>
                </c:pt>
                <c:pt idx="5">
                  <c:v>T6</c:v>
                </c:pt>
              </c:strCache>
            </c:strRef>
          </c:cat>
          <c:val>
            <c:numRef>
              <c:f>Sheet1!$C$2:$C$7</c:f>
              <c:numCache>
                <c:formatCode>General</c:formatCode>
                <c:ptCount val="6"/>
                <c:pt idx="0">
                  <c:v>115.2</c:v>
                </c:pt>
                <c:pt idx="1">
                  <c:v>155.19999999999999</c:v>
                </c:pt>
                <c:pt idx="2">
                  <c:v>239.2</c:v>
                </c:pt>
                <c:pt idx="3">
                  <c:v>171</c:v>
                </c:pt>
                <c:pt idx="4">
                  <c:v>103.9</c:v>
                </c:pt>
                <c:pt idx="5">
                  <c:v>255.7</c:v>
                </c:pt>
              </c:numCache>
            </c:numRef>
          </c:val>
          <c:extLst>
            <c:ext xmlns:c16="http://schemas.microsoft.com/office/drawing/2014/chart" uri="{C3380CC4-5D6E-409C-BE32-E72D297353CC}">
              <c16:uniqueId val="{00000001-24D1-4B1F-96B7-72FBA76FFA5B}"/>
            </c:ext>
          </c:extLst>
        </c:ser>
        <c:dLbls>
          <c:dLblPos val="ctr"/>
          <c:showLegendKey val="0"/>
          <c:showVal val="1"/>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06B"/>
                </a:solidFill>
                <a:latin typeface="Calibri"/>
              </a:defRPr>
            </a:pPr>
            <a:endParaRPr lang="en-US"/>
          </a:p>
        </c:txPr>
        <c:crossAx val="2094734552"/>
        <c:crosses val="autoZero"/>
        <c:auto val="1"/>
        <c:lblAlgn val="ctr"/>
        <c:lblOffset val="100"/>
        <c:noMultiLvlLbl val="1"/>
      </c:catAx>
      <c:valAx>
        <c:axId val="2094734552"/>
        <c:scaling>
          <c:orientation val="minMax"/>
          <c:max val="800"/>
          <c:min val="0"/>
        </c:scaling>
        <c:delete val="0"/>
        <c:axPos val="l"/>
        <c:majorGridlines>
          <c:spPr>
            <a:ln w="12700" cap="flat">
              <a:solidFill>
                <a:srgbClr val="E8EC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92A8"/>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44506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Tháng 5</c:v>
                </c:pt>
              </c:strCache>
            </c:strRef>
          </c:tx>
          <c:spPr>
            <a:solidFill>
              <a:srgbClr val="B8C6E0"/>
            </a:solidFill>
            <a:effectLst/>
          </c:spPr>
          <c:invertIfNegative val="0"/>
          <c:dLbls>
            <c:numFmt formatCode="#,##0" sourceLinked="0"/>
            <c:spPr>
              <a:noFill/>
              <a:ln>
                <a:noFill/>
              </a:ln>
              <a:effectLst/>
            </c:spPr>
            <c:txPr>
              <a:bodyPr/>
              <a:lstStyle/>
              <a:p>
                <a:pPr>
                  <a:defRPr sz="900" b="0" i="0" u="none" strike="noStrike">
                    <a:solidFill>
                      <a:srgbClr val="44506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Đỗ Thanh Lam</c:v>
                </c:pt>
                <c:pt idx="1">
                  <c:v>Trần Thị Bích</c:v>
                </c:pt>
                <c:pt idx="2">
                  <c:v>Nguyễn Văn An</c:v>
                </c:pt>
                <c:pt idx="3">
                  <c:v>Đặng Trung Kiên</c:v>
                </c:pt>
                <c:pt idx="4">
                  <c:v>Phạm Quốc Dũng</c:v>
                </c:pt>
                <c:pt idx="5">
                  <c:v>Lê Minh Châu</c:v>
                </c:pt>
                <c:pt idx="6">
                  <c:v>Ngô Phương Oanh</c:v>
                </c:pt>
                <c:pt idx="7">
                  <c:v>Vũ Đình Hùng</c:v>
                </c:pt>
                <c:pt idx="8">
                  <c:v>Hoàng Thị Giang</c:v>
                </c:pt>
                <c:pt idx="9">
                  <c:v>Bùi Hải Nam</c:v>
                </c:pt>
              </c:strCache>
            </c:strRef>
          </c:cat>
          <c:val>
            <c:numRef>
              <c:f>Sheet1!$B$2:$B$11</c:f>
              <c:numCache>
                <c:formatCode>General</c:formatCode>
                <c:ptCount val="10"/>
                <c:pt idx="0">
                  <c:v>69.599999999999994</c:v>
                </c:pt>
                <c:pt idx="1">
                  <c:v>32.9</c:v>
                </c:pt>
                <c:pt idx="2">
                  <c:v>43.8</c:v>
                </c:pt>
                <c:pt idx="3">
                  <c:v>39.5</c:v>
                </c:pt>
                <c:pt idx="4">
                  <c:v>80.7</c:v>
                </c:pt>
                <c:pt idx="5">
                  <c:v>55.7</c:v>
                </c:pt>
                <c:pt idx="6">
                  <c:v>36.200000000000003</c:v>
                </c:pt>
                <c:pt idx="7">
                  <c:v>51.2</c:v>
                </c:pt>
                <c:pt idx="8">
                  <c:v>63</c:v>
                </c:pt>
                <c:pt idx="9">
                  <c:v>55.9</c:v>
                </c:pt>
              </c:numCache>
            </c:numRef>
          </c:val>
          <c:extLst>
            <c:ext xmlns:c16="http://schemas.microsoft.com/office/drawing/2014/chart" uri="{C3380CC4-5D6E-409C-BE32-E72D297353CC}">
              <c16:uniqueId val="{00000000-58EA-4EC3-BAA3-D42B5672CE52}"/>
            </c:ext>
          </c:extLst>
        </c:ser>
        <c:ser>
          <c:idx val="1"/>
          <c:order val="1"/>
          <c:tx>
            <c:strRef>
              <c:f>Sheet1!$C$1</c:f>
              <c:strCache>
                <c:ptCount val="1"/>
                <c:pt idx="0">
                  <c:v>Tháng 6</c:v>
                </c:pt>
              </c:strCache>
            </c:strRef>
          </c:tx>
          <c:spPr>
            <a:solidFill>
              <a:srgbClr val="1E2761"/>
            </a:solidFill>
            <a:effectLst/>
          </c:spPr>
          <c:invertIfNegative val="0"/>
          <c:dLbls>
            <c:numFmt formatCode="#,##0" sourceLinked="0"/>
            <c:spPr>
              <a:noFill/>
              <a:ln>
                <a:noFill/>
              </a:ln>
              <a:effectLst/>
            </c:spPr>
            <c:txPr>
              <a:bodyPr/>
              <a:lstStyle/>
              <a:p>
                <a:pPr>
                  <a:defRPr sz="900" b="0" i="0" u="none" strike="noStrike">
                    <a:solidFill>
                      <a:srgbClr val="44506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Đỗ Thanh Lam</c:v>
                </c:pt>
                <c:pt idx="1">
                  <c:v>Trần Thị Bích</c:v>
                </c:pt>
                <c:pt idx="2">
                  <c:v>Nguyễn Văn An</c:v>
                </c:pt>
                <c:pt idx="3">
                  <c:v>Đặng Trung Kiên</c:v>
                </c:pt>
                <c:pt idx="4">
                  <c:v>Phạm Quốc Dũng</c:v>
                </c:pt>
                <c:pt idx="5">
                  <c:v>Lê Minh Châu</c:v>
                </c:pt>
                <c:pt idx="6">
                  <c:v>Ngô Phương Oanh</c:v>
                </c:pt>
                <c:pt idx="7">
                  <c:v>Vũ Đình Hùng</c:v>
                </c:pt>
                <c:pt idx="8">
                  <c:v>Hoàng Thị Giang</c:v>
                </c:pt>
                <c:pt idx="9">
                  <c:v>Bùi Hải Nam</c:v>
                </c:pt>
              </c:strCache>
            </c:strRef>
          </c:cat>
          <c:val>
            <c:numRef>
              <c:f>Sheet1!$C$2:$C$11</c:f>
              <c:numCache>
                <c:formatCode>General</c:formatCode>
                <c:ptCount val="10"/>
                <c:pt idx="0">
                  <c:v>12.4</c:v>
                </c:pt>
                <c:pt idx="1">
                  <c:v>15.1</c:v>
                </c:pt>
                <c:pt idx="2">
                  <c:v>23</c:v>
                </c:pt>
                <c:pt idx="3">
                  <c:v>59.1</c:v>
                </c:pt>
                <c:pt idx="4">
                  <c:v>65.2</c:v>
                </c:pt>
                <c:pt idx="5">
                  <c:v>71.900000000000006</c:v>
                </c:pt>
                <c:pt idx="6">
                  <c:v>87.3</c:v>
                </c:pt>
                <c:pt idx="7">
                  <c:v>88</c:v>
                </c:pt>
                <c:pt idx="8">
                  <c:v>116.6</c:v>
                </c:pt>
                <c:pt idx="9">
                  <c:v>130.1</c:v>
                </c:pt>
              </c:numCache>
            </c:numRef>
          </c:val>
          <c:extLst>
            <c:ext xmlns:c16="http://schemas.microsoft.com/office/drawing/2014/chart" uri="{C3380CC4-5D6E-409C-BE32-E72D297353CC}">
              <c16:uniqueId val="{00000001-58EA-4EC3-BAA3-D42B5672CE52}"/>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06B"/>
                </a:solidFill>
                <a:latin typeface="Calibri"/>
              </a:defRPr>
            </a:pPr>
            <a:endParaRPr lang="en-US"/>
          </a:p>
        </c:txPr>
        <c:crossAx val="2094734552"/>
        <c:crosses val="autoZero"/>
        <c:auto val="1"/>
        <c:lblAlgn val="ctr"/>
        <c:lblOffset val="100"/>
        <c:noMultiLvlLbl val="1"/>
      </c:catAx>
      <c:valAx>
        <c:axId val="2094734552"/>
        <c:scaling>
          <c:orientation val="minMax"/>
          <c:max val="160"/>
          <c:min val="0"/>
        </c:scaling>
        <c:delete val="0"/>
        <c:axPos val="b"/>
        <c:majorGridlines>
          <c:spPr>
            <a:ln w="12700" cap="flat">
              <a:solidFill>
                <a:srgbClr val="E8EC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892A8"/>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44506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5333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trình bày theo Pyramid Principle: kết luận chính ở slide 2, ba luận điểm chống đỡ ở slide 4-6.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đỉnh kim tự tháp. Ba thẻ bên dưới là ba luận điểm chống đỡ, mỗi luận điểm được chứng minh bằng một slide riêng.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 hoạch năm 4.350 tỷ lấy từ sheet Kế hoạch của workbook; lũy kế 6 tháng đã đạt 73,5%.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kênh trên năm tăng trưởng. Sự kiện mở bán tăng gấp 4,6 lần nhưng nền tháng 5 rất thấp (chỉ 2 giao dịch) — cần đọc kèm số tuyệt đối.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mấu chốt của toàn bộ báo cáo. Doanh thu ghi nhận trong workbook tính cả đơn đặt cọc, nên tổng số nhìn rất đẹp.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độ tập trung là rủi ro chính: một dự án và bốn nhân viên quyết định phần lớn kết quả.</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ô bên phải là placeholder — Colin điền nguyên nhân thực tế (chính sách bán hàng, tiến độ pháp lý dự án, biến động nhân sự...).</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hành động, không kết thúc bằng số liệu.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235440" y="-1371600"/>
            <a:ext cx="4754880" cy="4754880"/>
          </a:xfrm>
          <a:prstGeom prst="ellipse">
            <a:avLst/>
          </a:prstGeom>
          <a:solidFill>
            <a:srgbClr val="2E3F7F"/>
          </a:solidFill>
          <a:ln/>
        </p:spPr>
        <p:txBody>
          <a:bodyPr/>
          <a:lstStyle/>
          <a:p>
            <a:endParaRPr lang="en-US"/>
          </a:p>
        </p:txBody>
      </p:sp>
      <p:sp>
        <p:nvSpPr>
          <p:cNvPr id="3" name="Shape 1"/>
          <p:cNvSpPr/>
          <p:nvPr/>
        </p:nvSpPr>
        <p:spPr>
          <a:xfrm>
            <a:off x="10607040" y="4114800"/>
            <a:ext cx="3108960" cy="3108960"/>
          </a:xfrm>
          <a:prstGeom prst="ellipse">
            <a:avLst/>
          </a:prstGeom>
          <a:solidFill>
            <a:srgbClr val="2E3F7F"/>
          </a:solidFill>
          <a:ln/>
        </p:spPr>
        <p:txBody>
          <a:bodyPr/>
          <a:lstStyle/>
          <a:p>
            <a:endParaRPr lang="en-US"/>
          </a:p>
        </p:txBody>
      </p:sp>
      <p:sp>
        <p:nvSpPr>
          <p:cNvPr id="4" name="Text 2"/>
          <p:cNvSpPr/>
          <p:nvPr/>
        </p:nvSpPr>
        <p:spPr>
          <a:xfrm>
            <a:off x="822960" y="1828800"/>
            <a:ext cx="8229600" cy="274320"/>
          </a:xfrm>
          <a:prstGeom prst="rect">
            <a:avLst/>
          </a:prstGeom>
          <a:noFill/>
          <a:ln/>
        </p:spPr>
        <p:txBody>
          <a:bodyPr wrap="square" lIns="0" tIns="0" rIns="0" bIns="0" rtlCol="0" anchor="ctr"/>
          <a:lstStyle/>
          <a:p>
            <a:pPr marL="0" indent="0">
              <a:buNone/>
            </a:pPr>
            <a:r>
              <a:rPr lang="en-US" sz="1150" b="1" kern="0" spc="250" dirty="0">
                <a:solidFill>
                  <a:srgbClr val="C8891F"/>
                </a:solidFill>
                <a:latin typeface="Calibri" pitchFamily="34" charset="0"/>
                <a:ea typeface="Calibri" pitchFamily="34" charset="-122"/>
                <a:cs typeface="Calibri" pitchFamily="34" charset="-120"/>
              </a:rPr>
              <a:t>BÁO CÁO NỘI BỘ · KHỐI KINH DOANH</a:t>
            </a:r>
            <a:endParaRPr lang="en-US" sz="1150" dirty="0"/>
          </a:p>
        </p:txBody>
      </p:sp>
      <p:sp>
        <p:nvSpPr>
          <p:cNvPr id="5" name="Text 3"/>
          <p:cNvSpPr/>
          <p:nvPr/>
        </p:nvSpPr>
        <p:spPr>
          <a:xfrm>
            <a:off x="822960" y="2212848"/>
            <a:ext cx="8412480" cy="1737360"/>
          </a:xfrm>
          <a:prstGeom prst="rect">
            <a:avLst/>
          </a:prstGeom>
          <a:noFill/>
          <a:ln/>
        </p:spPr>
        <p:txBody>
          <a:bodyPr wrap="square" lIns="0" tIns="0" rIns="0" bIns="0" rtlCol="0" anchor="ctr"/>
          <a:lstStyle/>
          <a:p>
            <a:pPr marL="0" indent="0">
              <a:lnSpc>
                <a:spcPts val="5000"/>
              </a:lnSpc>
              <a:buNone/>
            </a:pPr>
            <a:r>
              <a:rPr lang="en-US" sz="4300" b="1" dirty="0">
                <a:solidFill>
                  <a:srgbClr val="FFFFFF"/>
                </a:solidFill>
                <a:latin typeface="Cambria" pitchFamily="34" charset="0"/>
                <a:ea typeface="Cambria" pitchFamily="34" charset="-122"/>
                <a:cs typeface="Cambria" pitchFamily="34" charset="-120"/>
              </a:rPr>
              <a:t>Kết quả kinh doanh</a:t>
            </a:r>
            <a:endParaRPr lang="en-US" sz="4300" dirty="0"/>
          </a:p>
          <a:p>
            <a:pPr marL="0" indent="0">
              <a:lnSpc>
                <a:spcPts val="5000"/>
              </a:lnSpc>
              <a:buNone/>
            </a:pPr>
            <a:r>
              <a:rPr lang="en-US" sz="4300" b="1" dirty="0">
                <a:solidFill>
                  <a:srgbClr val="FFFFFF"/>
                </a:solidFill>
                <a:latin typeface="Cambria" pitchFamily="34" charset="0"/>
                <a:ea typeface="Cambria" pitchFamily="34" charset="-122"/>
                <a:cs typeface="Cambria" pitchFamily="34" charset="-120"/>
              </a:rPr>
              <a:t>Tháng 6/2026</a:t>
            </a:r>
            <a:endParaRPr lang="en-US" sz="4300" dirty="0"/>
          </a:p>
        </p:txBody>
      </p:sp>
      <p:sp>
        <p:nvSpPr>
          <p:cNvPr id="6" name="Text 4"/>
          <p:cNvSpPr/>
          <p:nvPr/>
        </p:nvSpPr>
        <p:spPr>
          <a:xfrm>
            <a:off x="822960" y="4041648"/>
            <a:ext cx="877824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Doanh thu ghi nhận 668,7 tỷ đồng · tăng 26,6% so với tháng 5</a:t>
            </a:r>
            <a:endParaRPr lang="en-US" sz="1600" dirty="0"/>
          </a:p>
        </p:txBody>
      </p:sp>
      <p:sp>
        <p:nvSpPr>
          <p:cNvPr id="7" name="Shape 5"/>
          <p:cNvSpPr/>
          <p:nvPr/>
        </p:nvSpPr>
        <p:spPr>
          <a:xfrm>
            <a:off x="822960" y="4709160"/>
            <a:ext cx="2926080" cy="0"/>
          </a:xfrm>
          <a:prstGeom prst="line">
            <a:avLst/>
          </a:prstGeom>
          <a:noFill/>
          <a:ln w="25400">
            <a:solidFill>
              <a:srgbClr val="C8891F"/>
            </a:solidFill>
            <a:prstDash val="solid"/>
          </a:ln>
        </p:spPr>
        <p:txBody>
          <a:bodyPr/>
          <a:lstStyle/>
          <a:p>
            <a:endParaRPr lang="en-US"/>
          </a:p>
        </p:txBody>
      </p:sp>
      <p:sp>
        <p:nvSpPr>
          <p:cNvPr id="8" name="Text 6"/>
          <p:cNvSpPr/>
          <p:nvPr/>
        </p:nvSpPr>
        <p:spPr>
          <a:xfrm>
            <a:off x="822960" y="4937760"/>
            <a:ext cx="7680960" cy="640080"/>
          </a:xfrm>
          <a:prstGeom prst="rect">
            <a:avLst/>
          </a:prstGeom>
          <a:noFill/>
          <a:ln/>
        </p:spPr>
        <p:txBody>
          <a:bodyPr wrap="square" lIns="0" tIns="0" rIns="0" bIns="0" rtlCol="0" anchor="ctr"/>
          <a:lstStyle/>
          <a:p>
            <a:pPr marL="0" indent="0">
              <a:lnSpc>
                <a:spcPts val="1600"/>
              </a:lnSpc>
              <a:buNone/>
            </a:pPr>
            <a:r>
              <a:rPr lang="en-US" sz="1050" dirty="0">
                <a:solidFill>
                  <a:srgbClr val="9FB0D4"/>
                </a:solidFill>
                <a:latin typeface="Calibri" pitchFamily="34" charset="0"/>
                <a:ea typeface="Calibri" pitchFamily="34" charset="-122"/>
                <a:cs typeface="Calibri" pitchFamily="34" charset="-120"/>
              </a:rPr>
              <a:t>Nguồn: BDS_Claude.xlsx — sheet Data (420 giao dịch, 01/2026–07/2026).</a:t>
            </a:r>
            <a:endParaRPr lang="en-US" sz="1050" dirty="0"/>
          </a:p>
          <a:p>
            <a:pPr marL="0" indent="0">
              <a:lnSpc>
                <a:spcPts val="1600"/>
              </a:lnSpc>
              <a:buNone/>
            </a:pPr>
            <a:r>
              <a:rPr lang="en-US" sz="1050" dirty="0">
                <a:solidFill>
                  <a:srgbClr val="9FB0D4"/>
                </a:solidFill>
                <a:latin typeface="Calibri" pitchFamily="34" charset="0"/>
                <a:ea typeface="Calibri" pitchFamily="34" charset="-122"/>
                <a:cs typeface="Calibri" pitchFamily="34" charset="-120"/>
              </a:rPr>
              <a:t>Số liệu mô phỏng phục vụ huấn luyện, không phải số liệu thị trường thật.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marL="0" indent="0">
              <a:buNone/>
            </a:pPr>
            <a:r>
              <a:rPr lang="en-US" sz="1150" b="1" kern="0" spc="250" dirty="0">
                <a:solidFill>
                  <a:srgbClr val="C8891F"/>
                </a:solidFill>
                <a:latin typeface="Calibri" pitchFamily="34" charset="0"/>
                <a:ea typeface="Calibri" pitchFamily="34" charset="-122"/>
                <a:cs typeface="Calibri" pitchFamily="34" charset="-120"/>
              </a:rPr>
              <a:t>KẾT LUẬN CHÍNH</a:t>
            </a:r>
            <a:endParaRPr lang="en-US" sz="1150" dirty="0"/>
          </a:p>
        </p:txBody>
      </p:sp>
      <p:sp>
        <p:nvSpPr>
          <p:cNvPr id="3" name="Text 1"/>
          <p:cNvSpPr/>
          <p:nvPr/>
        </p:nvSpPr>
        <p:spPr>
          <a:xfrm>
            <a:off x="640080" y="822960"/>
            <a:ext cx="10972800" cy="1325880"/>
          </a:xfrm>
          <a:prstGeom prst="rect">
            <a:avLst/>
          </a:prstGeom>
          <a:noFill/>
          <a:ln/>
        </p:spPr>
        <p:txBody>
          <a:bodyPr wrap="square" lIns="0" tIns="0" rIns="0" bIns="0" rtlCol="0" anchor="ctr"/>
          <a:lstStyle/>
          <a:p>
            <a:pPr marL="0" indent="0">
              <a:lnSpc>
                <a:spcPts val="3600"/>
              </a:lnSpc>
              <a:buNone/>
            </a:pPr>
            <a:r>
              <a:rPr lang="en-US" sz="2700" b="1" dirty="0">
                <a:solidFill>
                  <a:srgbClr val="FFFFFF"/>
                </a:solidFill>
                <a:latin typeface="Cambria" pitchFamily="34" charset="0"/>
                <a:ea typeface="Cambria" pitchFamily="34" charset="-122"/>
                <a:cs typeface="Cambria" pitchFamily="34" charset="-120"/>
              </a:rPr>
              <a:t>Tháng 6 tăng trưởng mạnh về quy mô (+26,6%), nhưng </a:t>
            </a:r>
            <a:r>
              <a:rPr lang="en-US" sz="2700" b="1" dirty="0">
                <a:solidFill>
                  <a:srgbClr val="C8891F"/>
                </a:solidFill>
                <a:latin typeface="Cambria" pitchFamily="34" charset="0"/>
                <a:ea typeface="Cambria" pitchFamily="34" charset="-122"/>
                <a:cs typeface="Cambria" pitchFamily="34" charset="-120"/>
              </a:rPr>
              <a:t>toàn bộ mức tăng nằm ở đơn chưa ký HĐMB</a:t>
            </a:r>
            <a:r>
              <a:rPr lang="en-US" sz="2700" b="1" dirty="0">
                <a:solidFill>
                  <a:srgbClr val="FFFFFF"/>
                </a:solidFill>
                <a:latin typeface="Cambria" pitchFamily="34" charset="0"/>
                <a:ea typeface="Cambria" pitchFamily="34" charset="-122"/>
                <a:cs typeface="Cambria" pitchFamily="34" charset="-120"/>
              </a:rPr>
              <a:t> — doanh thu đã chốt thực tế giảm nhẹ 2,7%.</a:t>
            </a:r>
            <a:endParaRPr lang="en-US" sz="2700" dirty="0"/>
          </a:p>
        </p:txBody>
      </p:sp>
      <p:sp>
        <p:nvSpPr>
          <p:cNvPr id="4" name="Shape 2"/>
          <p:cNvSpPr/>
          <p:nvPr/>
        </p:nvSpPr>
        <p:spPr>
          <a:xfrm>
            <a:off x="640080" y="2395728"/>
            <a:ext cx="3429000" cy="3063240"/>
          </a:xfrm>
          <a:prstGeom prst="roundRect">
            <a:avLst>
              <a:gd name="adj" fmla="val 1493"/>
            </a:avLst>
          </a:prstGeom>
          <a:solidFill>
            <a:srgbClr val="2E3F7F"/>
          </a:solidFill>
          <a:ln w="12700">
            <a:solidFill>
              <a:srgbClr val="3D4E8F"/>
            </a:solidFill>
            <a:prstDash val="solid"/>
          </a:ln>
        </p:spPr>
        <p:txBody>
          <a:bodyPr/>
          <a:lstStyle/>
          <a:p>
            <a:endParaRPr lang="en-US"/>
          </a:p>
        </p:txBody>
      </p:sp>
      <p:sp>
        <p:nvSpPr>
          <p:cNvPr id="5" name="Shape 3"/>
          <p:cNvSpPr/>
          <p:nvPr/>
        </p:nvSpPr>
        <p:spPr>
          <a:xfrm>
            <a:off x="896112" y="2651760"/>
            <a:ext cx="384048" cy="384048"/>
          </a:xfrm>
          <a:prstGeom prst="ellipse">
            <a:avLst/>
          </a:prstGeom>
          <a:solidFill>
            <a:srgbClr val="C8891F"/>
          </a:solidFill>
          <a:ln/>
        </p:spPr>
        <p:txBody>
          <a:bodyPr/>
          <a:lstStyle/>
          <a:p>
            <a:endParaRPr lang="en-US"/>
          </a:p>
        </p:txBody>
      </p:sp>
      <p:sp>
        <p:nvSpPr>
          <p:cNvPr id="6" name="Text 4"/>
          <p:cNvSpPr/>
          <p:nvPr/>
        </p:nvSpPr>
        <p:spPr>
          <a:xfrm>
            <a:off x="896112" y="2651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896112" y="3154680"/>
            <a:ext cx="2926080" cy="658368"/>
          </a:xfrm>
          <a:prstGeom prst="rect">
            <a:avLst/>
          </a:prstGeom>
          <a:noFill/>
          <a:ln/>
        </p:spPr>
        <p:txBody>
          <a:bodyPr wrap="square" lIns="0" tIns="0" rIns="0" bIns="0" rtlCol="0" anchor="ctr"/>
          <a:lstStyle/>
          <a:p>
            <a:pPr marL="0" indent="0">
              <a:lnSpc>
                <a:spcPts val="2000"/>
              </a:lnSpc>
              <a:buNone/>
            </a:pPr>
            <a:r>
              <a:rPr lang="en-US" sz="1550" b="1" dirty="0">
                <a:solidFill>
                  <a:srgbClr val="FFFFFF"/>
                </a:solidFill>
                <a:latin typeface="Cambria" pitchFamily="34" charset="0"/>
                <a:ea typeface="Cambria" pitchFamily="34" charset="-122"/>
                <a:cs typeface="Cambria" pitchFamily="34" charset="-120"/>
              </a:rPr>
              <a:t>Quy mô bán hàng tăng thật</a:t>
            </a:r>
            <a:endParaRPr lang="en-US" sz="1550" dirty="0"/>
          </a:p>
        </p:txBody>
      </p:sp>
      <p:sp>
        <p:nvSpPr>
          <p:cNvPr id="8" name="Text 6"/>
          <p:cNvSpPr/>
          <p:nvPr/>
        </p:nvSpPr>
        <p:spPr>
          <a:xfrm>
            <a:off x="896112" y="3767328"/>
            <a:ext cx="2926080" cy="1143000"/>
          </a:xfrm>
          <a:prstGeom prst="rect">
            <a:avLst/>
          </a:prstGeom>
          <a:noFill/>
          <a:ln/>
        </p:spPr>
        <p:txBody>
          <a:bodyPr wrap="square" lIns="0" tIns="0" rIns="0" bIns="0"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668,7 tỷ đồng (+26,6%) từ 75 giao dịch (+25%). Tỷ lệ huỷ cọc giảm từ 10,0% xuống 5,3% — mức thấp nhất trong 4 tháng.</a:t>
            </a:r>
            <a:endParaRPr lang="en-US" sz="1200" dirty="0"/>
          </a:p>
        </p:txBody>
      </p:sp>
      <p:sp>
        <p:nvSpPr>
          <p:cNvPr id="9" name="Text 7"/>
          <p:cNvSpPr/>
          <p:nvPr/>
        </p:nvSpPr>
        <p:spPr>
          <a:xfrm>
            <a:off x="896112" y="5029200"/>
            <a:ext cx="2926080" cy="274320"/>
          </a:xfrm>
          <a:prstGeom prst="rect">
            <a:avLst/>
          </a:prstGeom>
          <a:noFill/>
          <a:ln/>
        </p:spPr>
        <p:txBody>
          <a:bodyPr wrap="square" lIns="0" tIns="0" rIns="0" bIns="0" rtlCol="0" anchor="ctr"/>
          <a:lstStyle/>
          <a:p>
            <a:pPr marL="0" indent="0">
              <a:buNone/>
            </a:pPr>
            <a:r>
              <a:rPr lang="en-US" sz="1150" b="1" dirty="0">
                <a:solidFill>
                  <a:srgbClr val="C8891F"/>
                </a:solidFill>
                <a:latin typeface="Calibri" pitchFamily="34" charset="0"/>
                <a:ea typeface="Calibri" pitchFamily="34" charset="-122"/>
                <a:cs typeface="Calibri" pitchFamily="34" charset="-120"/>
              </a:rPr>
              <a:t>+140,4 tỷ so với T5</a:t>
            </a:r>
            <a:endParaRPr lang="en-US" sz="1150" dirty="0"/>
          </a:p>
        </p:txBody>
      </p:sp>
      <p:sp>
        <p:nvSpPr>
          <p:cNvPr id="10" name="Shape 8"/>
          <p:cNvSpPr/>
          <p:nvPr/>
        </p:nvSpPr>
        <p:spPr>
          <a:xfrm>
            <a:off x="4343400" y="2395728"/>
            <a:ext cx="3429000" cy="3063240"/>
          </a:xfrm>
          <a:prstGeom prst="roundRect">
            <a:avLst>
              <a:gd name="adj" fmla="val 1493"/>
            </a:avLst>
          </a:prstGeom>
          <a:solidFill>
            <a:srgbClr val="2E3F7F"/>
          </a:solidFill>
          <a:ln w="12700">
            <a:solidFill>
              <a:srgbClr val="3D4E8F"/>
            </a:solidFill>
            <a:prstDash val="solid"/>
          </a:ln>
        </p:spPr>
        <p:txBody>
          <a:bodyPr/>
          <a:lstStyle/>
          <a:p>
            <a:endParaRPr lang="en-US"/>
          </a:p>
        </p:txBody>
      </p:sp>
      <p:sp>
        <p:nvSpPr>
          <p:cNvPr id="11" name="Shape 9"/>
          <p:cNvSpPr/>
          <p:nvPr/>
        </p:nvSpPr>
        <p:spPr>
          <a:xfrm>
            <a:off x="4599432" y="2651760"/>
            <a:ext cx="384048" cy="384048"/>
          </a:xfrm>
          <a:prstGeom prst="ellipse">
            <a:avLst/>
          </a:prstGeom>
          <a:solidFill>
            <a:srgbClr val="C8891F"/>
          </a:solidFill>
          <a:ln/>
        </p:spPr>
        <p:txBody>
          <a:bodyPr/>
          <a:lstStyle/>
          <a:p>
            <a:endParaRPr lang="en-US"/>
          </a:p>
        </p:txBody>
      </p:sp>
      <p:sp>
        <p:nvSpPr>
          <p:cNvPr id="12" name="Text 10"/>
          <p:cNvSpPr/>
          <p:nvPr/>
        </p:nvSpPr>
        <p:spPr>
          <a:xfrm>
            <a:off x="4599432" y="2651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4599432" y="3154680"/>
            <a:ext cx="2926080" cy="658368"/>
          </a:xfrm>
          <a:prstGeom prst="rect">
            <a:avLst/>
          </a:prstGeom>
          <a:noFill/>
          <a:ln/>
        </p:spPr>
        <p:txBody>
          <a:bodyPr wrap="square" lIns="0" tIns="0" rIns="0" bIns="0" rtlCol="0" anchor="ctr"/>
          <a:lstStyle/>
          <a:p>
            <a:pPr marL="0" indent="0">
              <a:lnSpc>
                <a:spcPts val="2000"/>
              </a:lnSpc>
              <a:buNone/>
            </a:pPr>
            <a:r>
              <a:rPr lang="en-US" sz="1550" b="1" dirty="0">
                <a:solidFill>
                  <a:srgbClr val="FFFFFF"/>
                </a:solidFill>
                <a:latin typeface="Cambria" pitchFamily="34" charset="0"/>
                <a:ea typeface="Cambria" pitchFamily="34" charset="-122"/>
                <a:cs typeface="Cambria" pitchFamily="34" charset="-120"/>
              </a:rPr>
              <a:t>Nhưng chất lượng doanh thu mỏng đi</a:t>
            </a:r>
            <a:endParaRPr lang="en-US" sz="1550" dirty="0"/>
          </a:p>
        </p:txBody>
      </p:sp>
      <p:sp>
        <p:nvSpPr>
          <p:cNvPr id="14" name="Text 12"/>
          <p:cNvSpPr/>
          <p:nvPr/>
        </p:nvSpPr>
        <p:spPr>
          <a:xfrm>
            <a:off x="4599432" y="3767328"/>
            <a:ext cx="2926080" cy="1143000"/>
          </a:xfrm>
          <a:prstGeom prst="rect">
            <a:avLst/>
          </a:prstGeom>
          <a:noFill/>
          <a:ln/>
        </p:spPr>
        <p:txBody>
          <a:bodyPr wrap="square" lIns="0" tIns="0" rIns="0" bIns="0"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Đơn đặt cọc tăng +151,8 tỷ, trong khi HĐMB đã ký giảm 11,4 tỷ. Đơn giá bình quân giảm 9,9%, chiết khấu nhích lên 2,94%.</a:t>
            </a:r>
            <a:endParaRPr lang="en-US" sz="1200" dirty="0"/>
          </a:p>
        </p:txBody>
      </p:sp>
      <p:sp>
        <p:nvSpPr>
          <p:cNvPr id="15" name="Text 13"/>
          <p:cNvSpPr/>
          <p:nvPr/>
        </p:nvSpPr>
        <p:spPr>
          <a:xfrm>
            <a:off x="4599432" y="5029200"/>
            <a:ext cx="2926080" cy="274320"/>
          </a:xfrm>
          <a:prstGeom prst="rect">
            <a:avLst/>
          </a:prstGeom>
          <a:noFill/>
          <a:ln/>
        </p:spPr>
        <p:txBody>
          <a:bodyPr wrap="square" lIns="0" tIns="0" rIns="0" bIns="0" rtlCol="0" anchor="ctr"/>
          <a:lstStyle/>
          <a:p>
            <a:pPr marL="0" indent="0">
              <a:buNone/>
            </a:pPr>
            <a:r>
              <a:rPr lang="en-US" sz="1150" b="1" dirty="0">
                <a:solidFill>
                  <a:srgbClr val="C8891F"/>
                </a:solidFill>
                <a:latin typeface="Calibri" pitchFamily="34" charset="0"/>
                <a:ea typeface="Calibri" pitchFamily="34" charset="-122"/>
                <a:cs typeface="Calibri" pitchFamily="34" charset="-120"/>
              </a:rPr>
              <a:t>38% doanh thu T6 chưa ký HĐMB</a:t>
            </a:r>
            <a:endParaRPr lang="en-US" sz="1150" dirty="0"/>
          </a:p>
        </p:txBody>
      </p:sp>
      <p:sp>
        <p:nvSpPr>
          <p:cNvPr id="16" name="Shape 14"/>
          <p:cNvSpPr/>
          <p:nvPr/>
        </p:nvSpPr>
        <p:spPr>
          <a:xfrm>
            <a:off x="8046720" y="2395728"/>
            <a:ext cx="3429000" cy="3063240"/>
          </a:xfrm>
          <a:prstGeom prst="roundRect">
            <a:avLst>
              <a:gd name="adj" fmla="val 1493"/>
            </a:avLst>
          </a:prstGeom>
          <a:solidFill>
            <a:srgbClr val="2E3F7F"/>
          </a:solidFill>
          <a:ln w="12700">
            <a:solidFill>
              <a:srgbClr val="3D4E8F"/>
            </a:solidFill>
            <a:prstDash val="solid"/>
          </a:ln>
        </p:spPr>
        <p:txBody>
          <a:bodyPr/>
          <a:lstStyle/>
          <a:p>
            <a:endParaRPr lang="en-US"/>
          </a:p>
        </p:txBody>
      </p:sp>
      <p:sp>
        <p:nvSpPr>
          <p:cNvPr id="17" name="Shape 15"/>
          <p:cNvSpPr/>
          <p:nvPr/>
        </p:nvSpPr>
        <p:spPr>
          <a:xfrm>
            <a:off x="8302752" y="2651760"/>
            <a:ext cx="384048" cy="384048"/>
          </a:xfrm>
          <a:prstGeom prst="ellipse">
            <a:avLst/>
          </a:prstGeom>
          <a:solidFill>
            <a:srgbClr val="C8891F"/>
          </a:solidFill>
          <a:ln/>
        </p:spPr>
        <p:txBody>
          <a:bodyPr/>
          <a:lstStyle/>
          <a:p>
            <a:endParaRPr lang="en-US"/>
          </a:p>
        </p:txBody>
      </p:sp>
      <p:sp>
        <p:nvSpPr>
          <p:cNvPr id="18" name="Text 16"/>
          <p:cNvSpPr/>
          <p:nvPr/>
        </p:nvSpPr>
        <p:spPr>
          <a:xfrm>
            <a:off x="8302752" y="2651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8302752" y="3154680"/>
            <a:ext cx="2926080" cy="658368"/>
          </a:xfrm>
          <a:prstGeom prst="rect">
            <a:avLst/>
          </a:prstGeom>
          <a:noFill/>
          <a:ln/>
        </p:spPr>
        <p:txBody>
          <a:bodyPr wrap="square" lIns="0" tIns="0" rIns="0" bIns="0" rtlCol="0" anchor="ctr"/>
          <a:lstStyle/>
          <a:p>
            <a:pPr marL="0" indent="0">
              <a:lnSpc>
                <a:spcPts val="2000"/>
              </a:lnSpc>
              <a:buNone/>
            </a:pPr>
            <a:r>
              <a:rPr lang="en-US" sz="1550" b="1" dirty="0">
                <a:solidFill>
                  <a:srgbClr val="FFFFFF"/>
                </a:solidFill>
                <a:latin typeface="Cambria" pitchFamily="34" charset="0"/>
                <a:ea typeface="Cambria" pitchFamily="34" charset="-122"/>
                <a:cs typeface="Cambria" pitchFamily="34" charset="-120"/>
              </a:rPr>
              <a:t>Tăng trưởng tập trung vào ít nguồn</a:t>
            </a:r>
            <a:endParaRPr lang="en-US" sz="1550" dirty="0"/>
          </a:p>
        </p:txBody>
      </p:sp>
      <p:sp>
        <p:nvSpPr>
          <p:cNvPr id="20" name="Text 18"/>
          <p:cNvSpPr/>
          <p:nvPr/>
        </p:nvSpPr>
        <p:spPr>
          <a:xfrm>
            <a:off x="8302752" y="3767328"/>
            <a:ext cx="2926080" cy="1143000"/>
          </a:xfrm>
          <a:prstGeom prst="rect">
            <a:avLst/>
          </a:prstGeom>
          <a:noFill/>
          <a:ln/>
        </p:spPr>
        <p:txBody>
          <a:bodyPr wrap="square" lIns="0" tIns="0" rIns="0" bIns="0" rtlCol="0" anchor="ctr"/>
          <a:lstStyle/>
          <a:p>
            <a:pPr marL="0" indent="0">
              <a:lnSpc>
                <a:spcPts val="1700"/>
              </a:lnSpc>
              <a:buNone/>
            </a:pPr>
            <a:r>
              <a:rPr lang="en-US" sz="1200" dirty="0">
                <a:solidFill>
                  <a:srgbClr val="CADCFC"/>
                </a:solidFill>
                <a:latin typeface="Calibri" pitchFamily="34" charset="0"/>
                <a:ea typeface="Calibri" pitchFamily="34" charset="-122"/>
                <a:cs typeface="Calibri" pitchFamily="34" charset="-120"/>
              </a:rPr>
              <a:t>4/10 sales tạo 63% doanh thu; riêng Swan Bay Villas chiếm 22%. Đồng thời 4 sales và 6 dự án sụt giảm so với tháng 5.</a:t>
            </a:r>
            <a:endParaRPr lang="en-US" sz="1200" dirty="0"/>
          </a:p>
        </p:txBody>
      </p:sp>
      <p:sp>
        <p:nvSpPr>
          <p:cNvPr id="21" name="Text 19"/>
          <p:cNvSpPr/>
          <p:nvPr/>
        </p:nvSpPr>
        <p:spPr>
          <a:xfrm>
            <a:off x="8302752" y="5029200"/>
            <a:ext cx="2926080" cy="274320"/>
          </a:xfrm>
          <a:prstGeom prst="rect">
            <a:avLst/>
          </a:prstGeom>
          <a:noFill/>
          <a:ln/>
        </p:spPr>
        <p:txBody>
          <a:bodyPr wrap="square" lIns="0" tIns="0" rIns="0" bIns="0" rtlCol="0" anchor="ctr"/>
          <a:lstStyle/>
          <a:p>
            <a:pPr marL="0" indent="0">
              <a:buNone/>
            </a:pPr>
            <a:r>
              <a:rPr lang="en-US" sz="1150" b="1" dirty="0">
                <a:solidFill>
                  <a:srgbClr val="C8891F"/>
                </a:solidFill>
                <a:latin typeface="Calibri" pitchFamily="34" charset="0"/>
                <a:ea typeface="Calibri" pitchFamily="34" charset="-122"/>
                <a:cs typeface="Calibri" pitchFamily="34" charset="-120"/>
              </a:rPr>
              <a:t>Rủi ro nếu 1 nguồn hụt</a:t>
            </a:r>
            <a:endParaRPr lang="en-US" sz="1150" dirty="0"/>
          </a:p>
        </p:txBody>
      </p:sp>
      <p:sp>
        <p:nvSpPr>
          <p:cNvPr id="22" name="Text 20"/>
          <p:cNvSpPr/>
          <p:nvPr/>
        </p:nvSpPr>
        <p:spPr>
          <a:xfrm>
            <a:off x="640080" y="5650992"/>
            <a:ext cx="7315200" cy="274320"/>
          </a:xfrm>
          <a:prstGeom prst="rect">
            <a:avLst/>
          </a:prstGeom>
          <a:noFill/>
          <a:ln/>
        </p:spPr>
        <p:txBody>
          <a:bodyPr wrap="square" lIns="0" tIns="0" rIns="0" bIns="0" rtlCol="0" anchor="ctr"/>
          <a:lstStyle/>
          <a:p>
            <a:pPr marL="0" indent="0">
              <a:buNone/>
            </a:pPr>
            <a:r>
              <a:rPr lang="en-US" sz="1100" i="1" dirty="0">
                <a:solidFill>
                  <a:srgbClr val="9FB0D4"/>
                </a:solidFill>
                <a:latin typeface="Calibri" pitchFamily="34" charset="0"/>
                <a:ea typeface="Calibri" pitchFamily="34" charset="-122"/>
                <a:cs typeface="Calibri" pitchFamily="34" charset="-120"/>
              </a:rPr>
              <a:t>Chi tiết từng luận điểm: slide 4, 5 và 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marL="0" indent="0">
              <a:buNone/>
            </a:pPr>
            <a:r>
              <a:rPr lang="en-US" sz="1100" b="1" kern="0" spc="200" dirty="0">
                <a:solidFill>
                  <a:srgbClr val="C8891F"/>
                </a:solidFill>
                <a:latin typeface="Calibri" pitchFamily="34" charset="0"/>
                <a:ea typeface="Calibri" pitchFamily="34" charset="-122"/>
                <a:cs typeface="Calibri" pitchFamily="34" charset="-120"/>
              </a:rPr>
              <a:t>BỨC TRANH TỔNG THỂ</a:t>
            </a:r>
            <a:endParaRPr lang="en-US" sz="1100" dirty="0"/>
          </a:p>
        </p:txBody>
      </p:sp>
      <p:sp>
        <p:nvSpPr>
          <p:cNvPr id="3" name="Text 1"/>
          <p:cNvSpPr/>
          <p:nvPr/>
        </p:nvSpPr>
        <p:spPr>
          <a:xfrm>
            <a:off x="548640" y="566928"/>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Tháng 6 so với tháng 5/2026</a:t>
            </a:r>
            <a:endParaRPr lang="en-US" sz="3000" dirty="0"/>
          </a:p>
        </p:txBody>
      </p:sp>
      <p:sp>
        <p:nvSpPr>
          <p:cNvPr id="4" name="Text 2"/>
          <p:cNvSpPr/>
          <p:nvPr/>
        </p:nvSpPr>
        <p:spPr>
          <a:xfrm>
            <a:off x="548640" y="1152144"/>
            <a:ext cx="11064240" cy="329184"/>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Đơn vị: tỷ đồng · doanh thu ghi nhận đã trừ chiết khấu, giao dịch huỷ cọc ghi nhận bằng 0</a:t>
            </a:r>
            <a:endParaRPr lang="en-US" sz="1300" dirty="0"/>
          </a:p>
        </p:txBody>
      </p:sp>
      <p:sp>
        <p:nvSpPr>
          <p:cNvPr id="5" name="Shape 3"/>
          <p:cNvSpPr/>
          <p:nvPr/>
        </p:nvSpPr>
        <p:spPr>
          <a:xfrm>
            <a:off x="548640" y="1627632"/>
            <a:ext cx="1901952" cy="1170432"/>
          </a:xfrm>
          <a:prstGeom prst="roundRect">
            <a:avLst>
              <a:gd name="adj" fmla="val 4688"/>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713232" y="1746504"/>
            <a:ext cx="1572768" cy="237744"/>
          </a:xfrm>
          <a:prstGeom prst="rect">
            <a:avLst/>
          </a:prstGeom>
          <a:noFill/>
          <a:ln/>
        </p:spPr>
        <p:txBody>
          <a:bodyPr wrap="square" lIns="0" tIns="0" rIns="0" bIns="0" rtlCol="0" anchor="ctr"/>
          <a:lstStyle/>
          <a:p>
            <a:pPr marL="0" indent="0">
              <a:buNone/>
            </a:pPr>
            <a:r>
              <a:rPr lang="en-US" sz="950" b="1" kern="0" spc="100" dirty="0">
                <a:solidFill>
                  <a:srgbClr val="CADCFC"/>
                </a:solidFill>
                <a:latin typeface="Calibri" pitchFamily="34" charset="0"/>
                <a:ea typeface="Calibri" pitchFamily="34" charset="-122"/>
                <a:cs typeface="Calibri" pitchFamily="34" charset="-120"/>
              </a:rPr>
              <a:t>DOANH THU GHI NHẬN</a:t>
            </a:r>
            <a:endParaRPr lang="en-US" sz="950" dirty="0"/>
          </a:p>
        </p:txBody>
      </p:sp>
      <p:sp>
        <p:nvSpPr>
          <p:cNvPr id="7" name="Text 5"/>
          <p:cNvSpPr/>
          <p:nvPr/>
        </p:nvSpPr>
        <p:spPr>
          <a:xfrm>
            <a:off x="713232" y="1993392"/>
            <a:ext cx="1572768" cy="4572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668,7</a:t>
            </a:r>
            <a:r>
              <a:rPr lang="en-US" sz="1150" dirty="0">
                <a:solidFill>
                  <a:srgbClr val="CADCFC"/>
                </a:solidFill>
                <a:latin typeface="Calibri" pitchFamily="34" charset="0"/>
                <a:ea typeface="Calibri" pitchFamily="34" charset="-122"/>
                <a:cs typeface="Calibri" pitchFamily="34" charset="-120"/>
              </a:rPr>
              <a:t> tỷ đ</a:t>
            </a:r>
            <a:endParaRPr lang="en-US" sz="2700" dirty="0"/>
          </a:p>
        </p:txBody>
      </p:sp>
      <p:sp>
        <p:nvSpPr>
          <p:cNvPr id="8" name="Text 6"/>
          <p:cNvSpPr/>
          <p:nvPr/>
        </p:nvSpPr>
        <p:spPr>
          <a:xfrm>
            <a:off x="713232" y="2468880"/>
            <a:ext cx="1572768" cy="256032"/>
          </a:xfrm>
          <a:prstGeom prst="rect">
            <a:avLst/>
          </a:prstGeom>
          <a:noFill/>
          <a:ln/>
        </p:spPr>
        <p:txBody>
          <a:bodyPr wrap="square" lIns="0" tIns="0" rIns="0" bIns="0" rtlCol="0" anchor="ctr"/>
          <a:lstStyle/>
          <a:p>
            <a:pPr marL="0" indent="0">
              <a:buNone/>
            </a:pPr>
            <a:r>
              <a:rPr lang="en-US" sz="1150" b="1" dirty="0">
                <a:solidFill>
                  <a:srgbClr val="1E7A5F"/>
                </a:solidFill>
                <a:latin typeface="Calibri" pitchFamily="34" charset="0"/>
                <a:ea typeface="Calibri" pitchFamily="34" charset="-122"/>
                <a:cs typeface="Calibri" pitchFamily="34" charset="-120"/>
              </a:rPr>
              <a:t>▲ +26,6% so với T5</a:t>
            </a:r>
            <a:endParaRPr lang="en-US" sz="1150" dirty="0"/>
          </a:p>
        </p:txBody>
      </p:sp>
      <p:sp>
        <p:nvSpPr>
          <p:cNvPr id="9" name="Shape 7"/>
          <p:cNvSpPr/>
          <p:nvPr/>
        </p:nvSpPr>
        <p:spPr>
          <a:xfrm>
            <a:off x="2596896" y="1627632"/>
            <a:ext cx="1901952" cy="1170432"/>
          </a:xfrm>
          <a:prstGeom prst="roundRect">
            <a:avLst>
              <a:gd name="adj" fmla="val 4688"/>
            </a:avLst>
          </a:prstGeom>
          <a:solidFill>
            <a:srgbClr val="F4F6FB"/>
          </a:solidFill>
          <a:ln w="12700">
            <a:solidFill>
              <a:srgbClr val="E1E7F5"/>
            </a:solidFill>
            <a:prstDash val="solid"/>
          </a:ln>
        </p:spPr>
        <p:txBody>
          <a:bodyPr/>
          <a:lstStyle/>
          <a:p>
            <a:endParaRPr lang="en-US"/>
          </a:p>
        </p:txBody>
      </p:sp>
      <p:sp>
        <p:nvSpPr>
          <p:cNvPr id="10" name="Text 8"/>
          <p:cNvSpPr/>
          <p:nvPr/>
        </p:nvSpPr>
        <p:spPr>
          <a:xfrm>
            <a:off x="2761488" y="1746504"/>
            <a:ext cx="1572768" cy="237744"/>
          </a:xfrm>
          <a:prstGeom prst="rect">
            <a:avLst/>
          </a:prstGeom>
          <a:noFill/>
          <a:ln/>
        </p:spPr>
        <p:txBody>
          <a:bodyPr wrap="square" lIns="0" tIns="0" rIns="0" bIns="0" rtlCol="0" anchor="ctr"/>
          <a:lstStyle/>
          <a:p>
            <a:pPr marL="0" indent="0">
              <a:buNone/>
            </a:pPr>
            <a:r>
              <a:rPr lang="en-US" sz="950" b="1" kern="0" spc="100" dirty="0">
                <a:solidFill>
                  <a:srgbClr val="6B7280"/>
                </a:solidFill>
                <a:latin typeface="Calibri" pitchFamily="34" charset="0"/>
                <a:ea typeface="Calibri" pitchFamily="34" charset="-122"/>
                <a:cs typeface="Calibri" pitchFamily="34" charset="-120"/>
              </a:rPr>
              <a:t>SỐ GIAO DỊCH</a:t>
            </a:r>
            <a:endParaRPr lang="en-US" sz="950" dirty="0"/>
          </a:p>
        </p:txBody>
      </p:sp>
      <p:sp>
        <p:nvSpPr>
          <p:cNvPr id="11" name="Text 9"/>
          <p:cNvSpPr/>
          <p:nvPr/>
        </p:nvSpPr>
        <p:spPr>
          <a:xfrm>
            <a:off x="2761488" y="1993392"/>
            <a:ext cx="1572768" cy="45720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75</a:t>
            </a:r>
            <a:r>
              <a:rPr lang="en-US" sz="1150" dirty="0">
                <a:solidFill>
                  <a:srgbClr val="6B7280"/>
                </a:solidFill>
                <a:latin typeface="Calibri" pitchFamily="34" charset="0"/>
                <a:ea typeface="Calibri" pitchFamily="34" charset="-122"/>
                <a:cs typeface="Calibri" pitchFamily="34" charset="-120"/>
              </a:rPr>
              <a:t> GD</a:t>
            </a:r>
            <a:endParaRPr lang="en-US" sz="2700" dirty="0"/>
          </a:p>
        </p:txBody>
      </p:sp>
      <p:sp>
        <p:nvSpPr>
          <p:cNvPr id="12" name="Text 10"/>
          <p:cNvSpPr/>
          <p:nvPr/>
        </p:nvSpPr>
        <p:spPr>
          <a:xfrm>
            <a:off x="2761488" y="2468880"/>
            <a:ext cx="1572768" cy="256032"/>
          </a:xfrm>
          <a:prstGeom prst="rect">
            <a:avLst/>
          </a:prstGeom>
          <a:noFill/>
          <a:ln/>
        </p:spPr>
        <p:txBody>
          <a:bodyPr wrap="square" lIns="0" tIns="0" rIns="0" bIns="0" rtlCol="0" anchor="ctr"/>
          <a:lstStyle/>
          <a:p>
            <a:pPr marL="0" indent="0">
              <a:buNone/>
            </a:pPr>
            <a:r>
              <a:rPr lang="en-US" sz="1150" b="1" dirty="0">
                <a:solidFill>
                  <a:srgbClr val="1E7A5F"/>
                </a:solidFill>
                <a:latin typeface="Calibri" pitchFamily="34" charset="0"/>
                <a:ea typeface="Calibri" pitchFamily="34" charset="-122"/>
                <a:cs typeface="Calibri" pitchFamily="34" charset="-120"/>
              </a:rPr>
              <a:t>▲ +25,0% (60 → 75)</a:t>
            </a:r>
            <a:endParaRPr lang="en-US" sz="1150" dirty="0"/>
          </a:p>
        </p:txBody>
      </p:sp>
      <p:sp>
        <p:nvSpPr>
          <p:cNvPr id="13" name="Shape 11"/>
          <p:cNvSpPr/>
          <p:nvPr/>
        </p:nvSpPr>
        <p:spPr>
          <a:xfrm>
            <a:off x="4645152" y="1627632"/>
            <a:ext cx="1901952" cy="1170432"/>
          </a:xfrm>
          <a:prstGeom prst="roundRect">
            <a:avLst>
              <a:gd name="adj" fmla="val 4688"/>
            </a:avLst>
          </a:prstGeom>
          <a:solidFill>
            <a:srgbClr val="F4F6FB"/>
          </a:solidFill>
          <a:ln w="12700">
            <a:solidFill>
              <a:srgbClr val="E1E7F5"/>
            </a:solidFill>
            <a:prstDash val="solid"/>
          </a:ln>
        </p:spPr>
        <p:txBody>
          <a:bodyPr/>
          <a:lstStyle/>
          <a:p>
            <a:endParaRPr lang="en-US"/>
          </a:p>
        </p:txBody>
      </p:sp>
      <p:sp>
        <p:nvSpPr>
          <p:cNvPr id="14" name="Text 12"/>
          <p:cNvSpPr/>
          <p:nvPr/>
        </p:nvSpPr>
        <p:spPr>
          <a:xfrm>
            <a:off x="4809744" y="1746504"/>
            <a:ext cx="1572768" cy="237744"/>
          </a:xfrm>
          <a:prstGeom prst="rect">
            <a:avLst/>
          </a:prstGeom>
          <a:noFill/>
          <a:ln/>
        </p:spPr>
        <p:txBody>
          <a:bodyPr wrap="square" lIns="0" tIns="0" rIns="0" bIns="0" rtlCol="0" anchor="ctr"/>
          <a:lstStyle/>
          <a:p>
            <a:pPr marL="0" indent="0">
              <a:buNone/>
            </a:pPr>
            <a:r>
              <a:rPr lang="en-US" sz="950" b="1" kern="0" spc="100" dirty="0">
                <a:solidFill>
                  <a:srgbClr val="6B7280"/>
                </a:solidFill>
                <a:latin typeface="Calibri" pitchFamily="34" charset="0"/>
                <a:ea typeface="Calibri" pitchFamily="34" charset="-122"/>
                <a:cs typeface="Calibri" pitchFamily="34" charset="-120"/>
              </a:rPr>
              <a:t>GIÁ TRỊ TB / GIAO DỊCH</a:t>
            </a:r>
            <a:endParaRPr lang="en-US" sz="950" dirty="0"/>
          </a:p>
        </p:txBody>
      </p:sp>
      <p:sp>
        <p:nvSpPr>
          <p:cNvPr id="15" name="Text 13"/>
          <p:cNvSpPr/>
          <p:nvPr/>
        </p:nvSpPr>
        <p:spPr>
          <a:xfrm>
            <a:off x="4809744" y="1993392"/>
            <a:ext cx="1572768" cy="45720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8,92</a:t>
            </a:r>
            <a:r>
              <a:rPr lang="en-US" sz="1150" dirty="0">
                <a:solidFill>
                  <a:srgbClr val="6B7280"/>
                </a:solidFill>
                <a:latin typeface="Calibri" pitchFamily="34" charset="0"/>
                <a:ea typeface="Calibri" pitchFamily="34" charset="-122"/>
                <a:cs typeface="Calibri" pitchFamily="34" charset="-120"/>
              </a:rPr>
              <a:t> tỷ đ</a:t>
            </a:r>
            <a:endParaRPr lang="en-US" sz="2700" dirty="0"/>
          </a:p>
        </p:txBody>
      </p:sp>
      <p:sp>
        <p:nvSpPr>
          <p:cNvPr id="16" name="Text 14"/>
          <p:cNvSpPr/>
          <p:nvPr/>
        </p:nvSpPr>
        <p:spPr>
          <a:xfrm>
            <a:off x="4809744" y="2468880"/>
            <a:ext cx="1572768" cy="256032"/>
          </a:xfrm>
          <a:prstGeom prst="rect">
            <a:avLst/>
          </a:prstGeom>
          <a:noFill/>
          <a:ln/>
        </p:spPr>
        <p:txBody>
          <a:bodyPr wrap="square" lIns="0" tIns="0" rIns="0" bIns="0" rtlCol="0" anchor="ctr"/>
          <a:lstStyle/>
          <a:p>
            <a:pPr marL="0" indent="0">
              <a:buNone/>
            </a:pPr>
            <a:r>
              <a:rPr lang="en-US" sz="1150" b="1" dirty="0">
                <a:solidFill>
                  <a:srgbClr val="1E7A5F"/>
                </a:solidFill>
                <a:latin typeface="Calibri" pitchFamily="34" charset="0"/>
                <a:ea typeface="Calibri" pitchFamily="34" charset="-122"/>
                <a:cs typeface="Calibri" pitchFamily="34" charset="-120"/>
              </a:rPr>
              <a:t>▲ +1,3%</a:t>
            </a:r>
            <a:endParaRPr lang="en-US" sz="1150" dirty="0"/>
          </a:p>
        </p:txBody>
      </p:sp>
      <p:sp>
        <p:nvSpPr>
          <p:cNvPr id="17" name="Shape 15"/>
          <p:cNvSpPr/>
          <p:nvPr/>
        </p:nvSpPr>
        <p:spPr>
          <a:xfrm>
            <a:off x="548640" y="2926080"/>
            <a:ext cx="1901952" cy="1170432"/>
          </a:xfrm>
          <a:prstGeom prst="roundRect">
            <a:avLst>
              <a:gd name="adj" fmla="val 4688"/>
            </a:avLst>
          </a:prstGeom>
          <a:solidFill>
            <a:srgbClr val="F4F6FB"/>
          </a:solidFill>
          <a:ln w="12700">
            <a:solidFill>
              <a:srgbClr val="E1E7F5"/>
            </a:solidFill>
            <a:prstDash val="solid"/>
          </a:ln>
        </p:spPr>
        <p:txBody>
          <a:bodyPr/>
          <a:lstStyle/>
          <a:p>
            <a:endParaRPr lang="en-US"/>
          </a:p>
        </p:txBody>
      </p:sp>
      <p:sp>
        <p:nvSpPr>
          <p:cNvPr id="18" name="Text 16"/>
          <p:cNvSpPr/>
          <p:nvPr/>
        </p:nvSpPr>
        <p:spPr>
          <a:xfrm>
            <a:off x="713232" y="3044952"/>
            <a:ext cx="1572768" cy="237744"/>
          </a:xfrm>
          <a:prstGeom prst="rect">
            <a:avLst/>
          </a:prstGeom>
          <a:noFill/>
          <a:ln/>
        </p:spPr>
        <p:txBody>
          <a:bodyPr wrap="square" lIns="0" tIns="0" rIns="0" bIns="0" rtlCol="0" anchor="ctr"/>
          <a:lstStyle/>
          <a:p>
            <a:pPr marL="0" indent="0">
              <a:buNone/>
            </a:pPr>
            <a:r>
              <a:rPr lang="en-US" sz="950" b="1" kern="0" spc="100" dirty="0">
                <a:solidFill>
                  <a:srgbClr val="6B7280"/>
                </a:solidFill>
                <a:latin typeface="Calibri" pitchFamily="34" charset="0"/>
                <a:ea typeface="Calibri" pitchFamily="34" charset="-122"/>
                <a:cs typeface="Calibri" pitchFamily="34" charset="-120"/>
              </a:rPr>
              <a:t>TỶ LỆ HUỶ CỌC</a:t>
            </a:r>
            <a:endParaRPr lang="en-US" sz="950" dirty="0"/>
          </a:p>
        </p:txBody>
      </p:sp>
      <p:sp>
        <p:nvSpPr>
          <p:cNvPr id="19" name="Text 17"/>
          <p:cNvSpPr/>
          <p:nvPr/>
        </p:nvSpPr>
        <p:spPr>
          <a:xfrm>
            <a:off x="713232" y="3291840"/>
            <a:ext cx="1572768" cy="45720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5,3</a:t>
            </a:r>
            <a:r>
              <a:rPr lang="en-US" sz="1150" dirty="0">
                <a:solidFill>
                  <a:srgbClr val="6B7280"/>
                </a:solidFill>
                <a:latin typeface="Calibri" pitchFamily="34" charset="0"/>
                <a:ea typeface="Calibri" pitchFamily="34" charset="-122"/>
                <a:cs typeface="Calibri" pitchFamily="34" charset="-120"/>
              </a:rPr>
              <a:t> %</a:t>
            </a:r>
            <a:endParaRPr lang="en-US" sz="2700" dirty="0"/>
          </a:p>
        </p:txBody>
      </p:sp>
      <p:sp>
        <p:nvSpPr>
          <p:cNvPr id="20" name="Text 18"/>
          <p:cNvSpPr/>
          <p:nvPr/>
        </p:nvSpPr>
        <p:spPr>
          <a:xfrm>
            <a:off x="713232" y="3767328"/>
            <a:ext cx="1572768" cy="256032"/>
          </a:xfrm>
          <a:prstGeom prst="rect">
            <a:avLst/>
          </a:prstGeom>
          <a:noFill/>
          <a:ln/>
        </p:spPr>
        <p:txBody>
          <a:bodyPr wrap="square" lIns="0" tIns="0" rIns="0" bIns="0" rtlCol="0" anchor="ctr"/>
          <a:lstStyle/>
          <a:p>
            <a:pPr marL="0" indent="0">
              <a:buNone/>
            </a:pPr>
            <a:r>
              <a:rPr lang="en-US" sz="1150" b="1" dirty="0">
                <a:solidFill>
                  <a:srgbClr val="1E7A5F"/>
                </a:solidFill>
                <a:latin typeface="Calibri" pitchFamily="34" charset="0"/>
                <a:ea typeface="Calibri" pitchFamily="34" charset="-122"/>
                <a:cs typeface="Calibri" pitchFamily="34" charset="-120"/>
              </a:rPr>
              <a:t>▼ −4,7 điểm % (tốt lên)</a:t>
            </a:r>
            <a:endParaRPr lang="en-US" sz="1150" dirty="0"/>
          </a:p>
        </p:txBody>
      </p:sp>
      <p:sp>
        <p:nvSpPr>
          <p:cNvPr id="21" name="Shape 19"/>
          <p:cNvSpPr/>
          <p:nvPr/>
        </p:nvSpPr>
        <p:spPr>
          <a:xfrm>
            <a:off x="2596896" y="2926080"/>
            <a:ext cx="1901952" cy="1170432"/>
          </a:xfrm>
          <a:prstGeom prst="roundRect">
            <a:avLst>
              <a:gd name="adj" fmla="val 4688"/>
            </a:avLst>
          </a:prstGeom>
          <a:solidFill>
            <a:srgbClr val="F4F6FB"/>
          </a:solidFill>
          <a:ln w="12700">
            <a:solidFill>
              <a:srgbClr val="E1E7F5"/>
            </a:solidFill>
            <a:prstDash val="solid"/>
          </a:ln>
        </p:spPr>
        <p:txBody>
          <a:bodyPr/>
          <a:lstStyle/>
          <a:p>
            <a:endParaRPr lang="en-US"/>
          </a:p>
        </p:txBody>
      </p:sp>
      <p:sp>
        <p:nvSpPr>
          <p:cNvPr id="22" name="Text 20"/>
          <p:cNvSpPr/>
          <p:nvPr/>
        </p:nvSpPr>
        <p:spPr>
          <a:xfrm>
            <a:off x="2761488" y="3044952"/>
            <a:ext cx="1572768" cy="237744"/>
          </a:xfrm>
          <a:prstGeom prst="rect">
            <a:avLst/>
          </a:prstGeom>
          <a:noFill/>
          <a:ln/>
        </p:spPr>
        <p:txBody>
          <a:bodyPr wrap="square" lIns="0" tIns="0" rIns="0" bIns="0" rtlCol="0" anchor="ctr"/>
          <a:lstStyle/>
          <a:p>
            <a:pPr marL="0" indent="0">
              <a:buNone/>
            </a:pPr>
            <a:r>
              <a:rPr lang="en-US" sz="950" b="1" kern="0" spc="100" dirty="0">
                <a:solidFill>
                  <a:srgbClr val="6B7280"/>
                </a:solidFill>
                <a:latin typeface="Calibri" pitchFamily="34" charset="0"/>
                <a:ea typeface="Calibri" pitchFamily="34" charset="-122"/>
                <a:cs typeface="Calibri" pitchFamily="34" charset="-120"/>
              </a:rPr>
              <a:t>ĐƠN GIÁ BÌNH QUÂN</a:t>
            </a:r>
            <a:endParaRPr lang="en-US" sz="950" dirty="0"/>
          </a:p>
        </p:txBody>
      </p:sp>
      <p:sp>
        <p:nvSpPr>
          <p:cNvPr id="23" name="Text 21"/>
          <p:cNvSpPr/>
          <p:nvPr/>
        </p:nvSpPr>
        <p:spPr>
          <a:xfrm>
            <a:off x="2761488" y="3291840"/>
            <a:ext cx="1572768" cy="45720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78,0</a:t>
            </a:r>
            <a:r>
              <a:rPr lang="en-US" sz="1150" dirty="0">
                <a:solidFill>
                  <a:srgbClr val="6B7280"/>
                </a:solidFill>
                <a:latin typeface="Calibri" pitchFamily="34" charset="0"/>
                <a:ea typeface="Calibri" pitchFamily="34" charset="-122"/>
                <a:cs typeface="Calibri" pitchFamily="34" charset="-120"/>
              </a:rPr>
              <a:t> trđ/m²</a:t>
            </a:r>
            <a:endParaRPr lang="en-US" sz="2700" dirty="0"/>
          </a:p>
        </p:txBody>
      </p:sp>
      <p:sp>
        <p:nvSpPr>
          <p:cNvPr id="24" name="Text 22"/>
          <p:cNvSpPr/>
          <p:nvPr/>
        </p:nvSpPr>
        <p:spPr>
          <a:xfrm>
            <a:off x="2761488" y="3767328"/>
            <a:ext cx="1572768" cy="256032"/>
          </a:xfrm>
          <a:prstGeom prst="rect">
            <a:avLst/>
          </a:prstGeom>
          <a:noFill/>
          <a:ln/>
        </p:spPr>
        <p:txBody>
          <a:bodyPr wrap="square" lIns="0" tIns="0" rIns="0" bIns="0" rtlCol="0" anchor="ctr"/>
          <a:lstStyle/>
          <a:p>
            <a:pPr marL="0" indent="0">
              <a:buNone/>
            </a:pPr>
            <a:r>
              <a:rPr lang="en-US" sz="1150" b="1" dirty="0">
                <a:solidFill>
                  <a:srgbClr val="B03A2E"/>
                </a:solidFill>
                <a:latin typeface="Calibri" pitchFamily="34" charset="0"/>
                <a:ea typeface="Calibri" pitchFamily="34" charset="-122"/>
                <a:cs typeface="Calibri" pitchFamily="34" charset="-120"/>
              </a:rPr>
              <a:t>▼ −9,9% so với T5</a:t>
            </a:r>
            <a:endParaRPr lang="en-US" sz="1150" dirty="0"/>
          </a:p>
        </p:txBody>
      </p:sp>
      <p:sp>
        <p:nvSpPr>
          <p:cNvPr id="25" name="Shape 23"/>
          <p:cNvSpPr/>
          <p:nvPr/>
        </p:nvSpPr>
        <p:spPr>
          <a:xfrm>
            <a:off x="4645152" y="2926080"/>
            <a:ext cx="1901952" cy="1170432"/>
          </a:xfrm>
          <a:prstGeom prst="roundRect">
            <a:avLst>
              <a:gd name="adj" fmla="val 4688"/>
            </a:avLst>
          </a:prstGeom>
          <a:solidFill>
            <a:srgbClr val="F4F6FB"/>
          </a:solidFill>
          <a:ln w="12700">
            <a:solidFill>
              <a:srgbClr val="E1E7F5"/>
            </a:solidFill>
            <a:prstDash val="solid"/>
          </a:ln>
        </p:spPr>
        <p:txBody>
          <a:bodyPr/>
          <a:lstStyle/>
          <a:p>
            <a:endParaRPr lang="en-US"/>
          </a:p>
        </p:txBody>
      </p:sp>
      <p:sp>
        <p:nvSpPr>
          <p:cNvPr id="26" name="Text 24"/>
          <p:cNvSpPr/>
          <p:nvPr/>
        </p:nvSpPr>
        <p:spPr>
          <a:xfrm>
            <a:off x="4809744" y="3044952"/>
            <a:ext cx="1572768" cy="237744"/>
          </a:xfrm>
          <a:prstGeom prst="rect">
            <a:avLst/>
          </a:prstGeom>
          <a:noFill/>
          <a:ln/>
        </p:spPr>
        <p:txBody>
          <a:bodyPr wrap="square" lIns="0" tIns="0" rIns="0" bIns="0" rtlCol="0" anchor="ctr"/>
          <a:lstStyle/>
          <a:p>
            <a:pPr marL="0" indent="0">
              <a:buNone/>
            </a:pPr>
            <a:r>
              <a:rPr lang="en-US" sz="950" b="1" kern="0" spc="100" dirty="0">
                <a:solidFill>
                  <a:srgbClr val="6B7280"/>
                </a:solidFill>
                <a:latin typeface="Calibri" pitchFamily="34" charset="0"/>
                <a:ea typeface="Calibri" pitchFamily="34" charset="-122"/>
                <a:cs typeface="Calibri" pitchFamily="34" charset="-120"/>
              </a:rPr>
              <a:t>LŨY KẾ 6T / KẾ HOẠCH NĂM</a:t>
            </a:r>
            <a:endParaRPr lang="en-US" sz="950" dirty="0"/>
          </a:p>
        </p:txBody>
      </p:sp>
      <p:sp>
        <p:nvSpPr>
          <p:cNvPr id="27" name="Text 25"/>
          <p:cNvSpPr/>
          <p:nvPr/>
        </p:nvSpPr>
        <p:spPr>
          <a:xfrm>
            <a:off x="4809744" y="3291840"/>
            <a:ext cx="1572768" cy="45720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73,5</a:t>
            </a:r>
            <a:r>
              <a:rPr lang="en-US" sz="1150" dirty="0">
                <a:solidFill>
                  <a:srgbClr val="6B7280"/>
                </a:solidFill>
                <a:latin typeface="Calibri" pitchFamily="34" charset="0"/>
                <a:ea typeface="Calibri" pitchFamily="34" charset="-122"/>
                <a:cs typeface="Calibri" pitchFamily="34" charset="-120"/>
              </a:rPr>
              <a:t> %</a:t>
            </a:r>
            <a:endParaRPr lang="en-US" sz="2700" dirty="0"/>
          </a:p>
        </p:txBody>
      </p:sp>
      <p:sp>
        <p:nvSpPr>
          <p:cNvPr id="28" name="Text 26"/>
          <p:cNvSpPr/>
          <p:nvPr/>
        </p:nvSpPr>
        <p:spPr>
          <a:xfrm>
            <a:off x="4809744" y="3767328"/>
            <a:ext cx="1572768" cy="256032"/>
          </a:xfrm>
          <a:prstGeom prst="rect">
            <a:avLst/>
          </a:prstGeom>
          <a:noFill/>
          <a:ln/>
        </p:spPr>
        <p:txBody>
          <a:bodyPr wrap="square" lIns="0" tIns="0" rIns="0" bIns="0" rtlCol="0" anchor="ctr"/>
          <a:lstStyle/>
          <a:p>
            <a:pPr marL="0" indent="0">
              <a:buNone/>
            </a:pPr>
            <a:r>
              <a:rPr lang="en-US" sz="1150" b="1" dirty="0">
                <a:solidFill>
                  <a:srgbClr val="6B7280"/>
                </a:solidFill>
                <a:latin typeface="Calibri" pitchFamily="34" charset="0"/>
                <a:ea typeface="Calibri" pitchFamily="34" charset="-122"/>
                <a:cs typeface="Calibri" pitchFamily="34" charset="-120"/>
              </a:rPr>
              <a:t>3.198,7 / 4.350,0 tỷ</a:t>
            </a:r>
            <a:endParaRPr lang="en-US" sz="1150" dirty="0"/>
          </a:p>
        </p:txBody>
      </p:sp>
      <p:graphicFrame>
        <p:nvGraphicFramePr>
          <p:cNvPr id="29" name="Chart 0" descr="Chart"/>
          <p:cNvGraphicFramePr/>
          <p:nvPr>
            <p:extLst>
              <p:ext uri="{D42A27DB-BD31-4B8C-83A1-F6EECF244321}">
                <p14:modId xmlns:p14="http://schemas.microsoft.com/office/powerpoint/2010/main" val="2632749481"/>
              </p:ext>
            </p:extLst>
          </p:nvPr>
        </p:nvGraphicFramePr>
        <p:xfrm>
          <a:off x="6720840" y="1572768"/>
          <a:ext cx="493776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30" name="Shape 27"/>
          <p:cNvSpPr/>
          <p:nvPr/>
        </p:nvSpPr>
        <p:spPr>
          <a:xfrm>
            <a:off x="548640" y="4343400"/>
            <a:ext cx="5943600" cy="1371600"/>
          </a:xfrm>
          <a:prstGeom prst="roundRect">
            <a:avLst>
              <a:gd name="adj" fmla="val 3333"/>
            </a:avLst>
          </a:prstGeom>
          <a:solidFill>
            <a:srgbClr val="FBF4E7"/>
          </a:solidFill>
          <a:ln w="12700">
            <a:solidFill>
              <a:srgbClr val="EBD9B4"/>
            </a:solidFill>
            <a:prstDash val="solid"/>
          </a:ln>
        </p:spPr>
        <p:txBody>
          <a:bodyPr/>
          <a:lstStyle/>
          <a:p>
            <a:endParaRPr lang="en-US"/>
          </a:p>
        </p:txBody>
      </p:sp>
      <p:sp>
        <p:nvSpPr>
          <p:cNvPr id="31" name="Text 28"/>
          <p:cNvSpPr/>
          <p:nvPr/>
        </p:nvSpPr>
        <p:spPr>
          <a:xfrm>
            <a:off x="777240" y="4498848"/>
            <a:ext cx="5486400" cy="256032"/>
          </a:xfrm>
          <a:prstGeom prst="rect">
            <a:avLst/>
          </a:prstGeom>
          <a:noFill/>
          <a:ln/>
        </p:spPr>
        <p:txBody>
          <a:bodyPr wrap="square" lIns="0" tIns="0" rIns="0" bIns="0" rtlCol="0" anchor="ctr"/>
          <a:lstStyle/>
          <a:p>
            <a:pPr marL="0" indent="0">
              <a:buNone/>
            </a:pPr>
            <a:r>
              <a:rPr lang="en-US" sz="1050" b="1" kern="0" spc="150" dirty="0">
                <a:solidFill>
                  <a:srgbClr val="C8891F"/>
                </a:solidFill>
                <a:latin typeface="Calibri" pitchFamily="34" charset="0"/>
                <a:ea typeface="Calibri" pitchFamily="34" charset="-122"/>
                <a:cs typeface="Calibri" pitchFamily="34" charset="-120"/>
              </a:rPr>
              <a:t>Điều cần chú ý</a:t>
            </a:r>
            <a:endParaRPr lang="en-US" sz="1050" dirty="0"/>
          </a:p>
        </p:txBody>
      </p:sp>
      <p:sp>
        <p:nvSpPr>
          <p:cNvPr id="32" name="Text 29"/>
          <p:cNvSpPr/>
          <p:nvPr/>
        </p:nvSpPr>
        <p:spPr>
          <a:xfrm>
            <a:off x="777240" y="4754880"/>
            <a:ext cx="5486400" cy="868680"/>
          </a:xfrm>
          <a:prstGeom prst="rect">
            <a:avLst/>
          </a:prstGeom>
          <a:noFill/>
          <a:ln/>
        </p:spPr>
        <p:txBody>
          <a:bodyPr wrap="square" lIns="0" tIns="0" rIns="0" bIns="0" rtlCol="0" anchor="ctr"/>
          <a:lstStyle/>
          <a:p>
            <a:pPr marL="0" indent="0">
              <a:lnSpc>
                <a:spcPts val="1800"/>
              </a:lnSpc>
              <a:buNone/>
            </a:pPr>
            <a:r>
              <a:rPr lang="en-US" sz="1250" dirty="0">
                <a:solidFill>
                  <a:srgbClr val="5A4A2A"/>
                </a:solidFill>
                <a:latin typeface="Calibri" pitchFamily="34" charset="0"/>
                <a:ea typeface="Calibri" pitchFamily="34" charset="-122"/>
                <a:cs typeface="Calibri" pitchFamily="34" charset="-120"/>
              </a:rPr>
              <a:t>Tháng 6 là tháng cao nhất từ đầu năm về cả doanh thu và số giao dịch. Tuy nhiên 255,7 tỷ (38%) đến từ đơn mới đặt cọc, chưa ký hợp đồng mua bán — xem slide 5.</a:t>
            </a:r>
            <a:endParaRPr lang="en-US" sz="1250" dirty="0"/>
          </a:p>
        </p:txBody>
      </p:sp>
      <p:sp>
        <p:nvSpPr>
          <p:cNvPr id="33" name="Text 30"/>
          <p:cNvSpPr/>
          <p:nvPr/>
        </p:nvSpPr>
        <p:spPr>
          <a:xfrm>
            <a:off x="548640" y="5989320"/>
            <a:ext cx="7315200" cy="256032"/>
          </a:xfrm>
          <a:prstGeom prst="rect">
            <a:avLst/>
          </a:prstGeom>
          <a:noFill/>
          <a:ln/>
        </p:spPr>
        <p:txBody>
          <a:bodyPr wrap="square" lIns="0" tIns="0" rIns="0" bIns="0" rtlCol="0" anchor="ctr"/>
          <a:lstStyle/>
          <a:p>
            <a:pPr marL="0" indent="0">
              <a:buNone/>
            </a:pPr>
            <a:r>
              <a:rPr lang="en-US" sz="950" dirty="0">
                <a:solidFill>
                  <a:srgbClr val="9AA3B5"/>
                </a:solidFill>
                <a:latin typeface="Calibri" pitchFamily="34" charset="0"/>
                <a:ea typeface="Calibri" pitchFamily="34" charset="-122"/>
                <a:cs typeface="Calibri" pitchFamily="34" charset="-120"/>
              </a:rPr>
              <a:t>Nguồn: BDS_Claude.xlsx — sheet Data &amp; Kế hoạch.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marL="0" indent="0">
              <a:buNone/>
            </a:pPr>
            <a:r>
              <a:rPr lang="en-US" sz="1100" b="1" kern="0" spc="200" dirty="0">
                <a:solidFill>
                  <a:srgbClr val="C8891F"/>
                </a:solidFill>
                <a:latin typeface="Calibri" pitchFamily="34" charset="0"/>
                <a:ea typeface="Calibri" pitchFamily="34" charset="-122"/>
                <a:cs typeface="Calibri" pitchFamily="34" charset="-120"/>
              </a:rPr>
              <a:t>LUẬN ĐIỂM 1</a:t>
            </a:r>
            <a:endParaRPr lang="en-US" sz="1100" dirty="0"/>
          </a:p>
        </p:txBody>
      </p:sp>
      <p:sp>
        <p:nvSpPr>
          <p:cNvPr id="3" name="Text 1"/>
          <p:cNvSpPr/>
          <p:nvPr/>
        </p:nvSpPr>
        <p:spPr>
          <a:xfrm>
            <a:off x="548640" y="566928"/>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Quy mô tăng thật, nhờ kênh mới và phân khúc cao cấp</a:t>
            </a:r>
            <a:endParaRPr lang="en-US" sz="3000" dirty="0"/>
          </a:p>
        </p:txBody>
      </p:sp>
      <p:sp>
        <p:nvSpPr>
          <p:cNvPr id="4" name="Text 2"/>
          <p:cNvSpPr/>
          <p:nvPr/>
        </p:nvSpPr>
        <p:spPr>
          <a:xfrm>
            <a:off x="548640" y="1152144"/>
            <a:ext cx="11064240" cy="329184"/>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Doanh thu ghi nhận theo kênh bán và theo loại hình bất động sản, tỷ đồng</a:t>
            </a:r>
            <a:endParaRPr lang="en-US" sz="1300" dirty="0"/>
          </a:p>
        </p:txBody>
      </p:sp>
      <p:sp>
        <p:nvSpPr>
          <p:cNvPr id="5" name="Shape 3"/>
          <p:cNvSpPr/>
          <p:nvPr/>
        </p:nvSpPr>
        <p:spPr>
          <a:xfrm>
            <a:off x="11228832" y="566928"/>
            <a:ext cx="384048" cy="384048"/>
          </a:xfrm>
          <a:prstGeom prst="ellipse">
            <a:avLst/>
          </a:prstGeom>
          <a:solidFill>
            <a:srgbClr val="1E2761"/>
          </a:solidFill>
          <a:ln/>
        </p:spPr>
        <p:txBody>
          <a:bodyPr/>
          <a:lstStyle/>
          <a:p>
            <a:endParaRPr lang="en-US"/>
          </a:p>
        </p:txBody>
      </p:sp>
      <p:sp>
        <p:nvSpPr>
          <p:cNvPr id="6" name="Text 4"/>
          <p:cNvSpPr/>
          <p:nvPr/>
        </p:nvSpPr>
        <p:spPr>
          <a:xfrm>
            <a:off x="11228832" y="5669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graphicFrame>
        <p:nvGraphicFramePr>
          <p:cNvPr id="7" name="Chart 0" descr="Chart"/>
          <p:cNvGraphicFramePr/>
          <p:nvPr>
            <p:extLst>
              <p:ext uri="{D42A27DB-BD31-4B8C-83A1-F6EECF244321}">
                <p14:modId xmlns:p14="http://schemas.microsoft.com/office/powerpoint/2010/main" val="2010752443"/>
              </p:ext>
            </p:extLst>
          </p:nvPr>
        </p:nvGraphicFramePr>
        <p:xfrm>
          <a:off x="502920" y="1627632"/>
          <a:ext cx="5623560" cy="3246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descr="Chart"/>
          <p:cNvGraphicFramePr/>
          <p:nvPr>
            <p:extLst>
              <p:ext uri="{D42A27DB-BD31-4B8C-83A1-F6EECF244321}">
                <p14:modId xmlns:p14="http://schemas.microsoft.com/office/powerpoint/2010/main" val="2977833529"/>
              </p:ext>
            </p:extLst>
          </p:nvPr>
        </p:nvGraphicFramePr>
        <p:xfrm>
          <a:off x="6263640" y="1627632"/>
          <a:ext cx="544068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02920" y="5029200"/>
            <a:ext cx="2697480" cy="1051560"/>
          </a:xfrm>
          <a:prstGeom prst="roundRect">
            <a:avLst>
              <a:gd name="adj" fmla="val 4348"/>
            </a:avLst>
          </a:prstGeom>
          <a:solidFill>
            <a:srgbClr val="F4F6FB"/>
          </a:solidFill>
          <a:ln w="12700">
            <a:solidFill>
              <a:srgbClr val="E1E7F5"/>
            </a:solidFill>
            <a:prstDash val="solid"/>
          </a:ln>
        </p:spPr>
        <p:txBody>
          <a:bodyPr/>
          <a:lstStyle/>
          <a:p>
            <a:endParaRPr lang="en-US"/>
          </a:p>
        </p:txBody>
      </p:sp>
      <p:sp>
        <p:nvSpPr>
          <p:cNvPr id="10" name="Text 6"/>
          <p:cNvSpPr/>
          <p:nvPr/>
        </p:nvSpPr>
        <p:spPr>
          <a:xfrm>
            <a:off x="649224" y="5138928"/>
            <a:ext cx="242316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Sự kiện mở bán  </a:t>
            </a:r>
            <a:r>
              <a:rPr lang="en-US" sz="1400" b="1" dirty="0">
                <a:solidFill>
                  <a:srgbClr val="1E7A5F"/>
                </a:solidFill>
                <a:latin typeface="Cambria" pitchFamily="34" charset="0"/>
                <a:ea typeface="Cambria" pitchFamily="34" charset="-122"/>
                <a:cs typeface="Cambria" pitchFamily="34" charset="-120"/>
              </a:rPr>
              <a:t>+359%</a:t>
            </a:r>
            <a:endParaRPr lang="en-US" sz="1200" dirty="0"/>
          </a:p>
        </p:txBody>
      </p:sp>
      <p:sp>
        <p:nvSpPr>
          <p:cNvPr id="11" name="Text 7"/>
          <p:cNvSpPr/>
          <p:nvPr/>
        </p:nvSpPr>
        <p:spPr>
          <a:xfrm>
            <a:off x="649224" y="5468112"/>
            <a:ext cx="2423160" cy="502920"/>
          </a:xfrm>
          <a:prstGeom prst="rect">
            <a:avLst/>
          </a:prstGeom>
          <a:noFill/>
          <a:ln/>
        </p:spPr>
        <p:txBody>
          <a:bodyPr wrap="square" lIns="0" tIns="0" rIns="0" bIns="0" rtlCol="0" anchor="ctr"/>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17,0 → 78,1 tỷ · 2 → 8 giao dịch</a:t>
            </a:r>
            <a:endParaRPr lang="en-US" sz="1050" dirty="0"/>
          </a:p>
        </p:txBody>
      </p:sp>
      <p:sp>
        <p:nvSpPr>
          <p:cNvPr id="12" name="Shape 8"/>
          <p:cNvSpPr/>
          <p:nvPr/>
        </p:nvSpPr>
        <p:spPr>
          <a:xfrm>
            <a:off x="3364992" y="5029200"/>
            <a:ext cx="2697480" cy="1051560"/>
          </a:xfrm>
          <a:prstGeom prst="roundRect">
            <a:avLst>
              <a:gd name="adj" fmla="val 4348"/>
            </a:avLst>
          </a:prstGeom>
          <a:solidFill>
            <a:srgbClr val="F4F6FB"/>
          </a:solidFill>
          <a:ln w="12700">
            <a:solidFill>
              <a:srgbClr val="E1E7F5"/>
            </a:solidFill>
            <a:prstDash val="solid"/>
          </a:ln>
        </p:spPr>
        <p:txBody>
          <a:bodyPr/>
          <a:lstStyle/>
          <a:p>
            <a:endParaRPr lang="en-US"/>
          </a:p>
        </p:txBody>
      </p:sp>
      <p:sp>
        <p:nvSpPr>
          <p:cNvPr id="13" name="Text 9"/>
          <p:cNvSpPr/>
          <p:nvPr/>
        </p:nvSpPr>
        <p:spPr>
          <a:xfrm>
            <a:off x="3511296" y="5138928"/>
            <a:ext cx="242316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Online / Digital  </a:t>
            </a:r>
            <a:r>
              <a:rPr lang="en-US" sz="1400" b="1" dirty="0">
                <a:solidFill>
                  <a:srgbClr val="1E7A5F"/>
                </a:solidFill>
                <a:latin typeface="Cambria" pitchFamily="34" charset="0"/>
                <a:ea typeface="Cambria" pitchFamily="34" charset="-122"/>
                <a:cs typeface="Cambria" pitchFamily="34" charset="-120"/>
              </a:rPr>
              <a:t>+61%</a:t>
            </a:r>
            <a:endParaRPr lang="en-US" sz="1200" dirty="0"/>
          </a:p>
        </p:txBody>
      </p:sp>
      <p:sp>
        <p:nvSpPr>
          <p:cNvPr id="14" name="Text 10"/>
          <p:cNvSpPr/>
          <p:nvPr/>
        </p:nvSpPr>
        <p:spPr>
          <a:xfrm>
            <a:off x="3511296" y="5468112"/>
            <a:ext cx="2423160" cy="502920"/>
          </a:xfrm>
          <a:prstGeom prst="rect">
            <a:avLst/>
          </a:prstGeom>
          <a:noFill/>
          <a:ln/>
        </p:spPr>
        <p:txBody>
          <a:bodyPr wrap="square" lIns="0" tIns="0" rIns="0" bIns="0" rtlCol="0" anchor="ctr"/>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69,5 → 111,6 tỷ dù số GD giảm 15 → 10</a:t>
            </a:r>
            <a:endParaRPr lang="en-US" sz="1050" dirty="0"/>
          </a:p>
        </p:txBody>
      </p:sp>
      <p:sp>
        <p:nvSpPr>
          <p:cNvPr id="15" name="Shape 11"/>
          <p:cNvSpPr/>
          <p:nvPr/>
        </p:nvSpPr>
        <p:spPr>
          <a:xfrm>
            <a:off x="6227064" y="5029200"/>
            <a:ext cx="2697480" cy="1051560"/>
          </a:xfrm>
          <a:prstGeom prst="roundRect">
            <a:avLst>
              <a:gd name="adj" fmla="val 4348"/>
            </a:avLst>
          </a:prstGeom>
          <a:solidFill>
            <a:srgbClr val="F4F6FB"/>
          </a:solidFill>
          <a:ln w="12700">
            <a:solidFill>
              <a:srgbClr val="E1E7F5"/>
            </a:solidFill>
            <a:prstDash val="solid"/>
          </a:ln>
        </p:spPr>
        <p:txBody>
          <a:bodyPr/>
          <a:lstStyle/>
          <a:p>
            <a:endParaRPr lang="en-US"/>
          </a:p>
        </p:txBody>
      </p:sp>
      <p:sp>
        <p:nvSpPr>
          <p:cNvPr id="16" name="Text 12"/>
          <p:cNvSpPr/>
          <p:nvPr/>
        </p:nvSpPr>
        <p:spPr>
          <a:xfrm>
            <a:off x="6373368" y="5138928"/>
            <a:ext cx="242316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Biệt thự  </a:t>
            </a:r>
            <a:r>
              <a:rPr lang="en-US" sz="1400" b="1" dirty="0">
                <a:solidFill>
                  <a:srgbClr val="1E7A5F"/>
                </a:solidFill>
                <a:latin typeface="Cambria" pitchFamily="34" charset="0"/>
                <a:ea typeface="Cambria" pitchFamily="34" charset="-122"/>
                <a:cs typeface="Cambria" pitchFamily="34" charset="-120"/>
              </a:rPr>
              <a:t>+79%</a:t>
            </a:r>
            <a:endParaRPr lang="en-US" sz="1200" dirty="0"/>
          </a:p>
        </p:txBody>
      </p:sp>
      <p:sp>
        <p:nvSpPr>
          <p:cNvPr id="17" name="Text 13"/>
          <p:cNvSpPr/>
          <p:nvPr/>
        </p:nvSpPr>
        <p:spPr>
          <a:xfrm>
            <a:off x="6373368" y="5468112"/>
            <a:ext cx="2423160" cy="502920"/>
          </a:xfrm>
          <a:prstGeom prst="rect">
            <a:avLst/>
          </a:prstGeom>
          <a:noFill/>
          <a:ln/>
        </p:spPr>
        <p:txBody>
          <a:bodyPr wrap="square" lIns="0" tIns="0" rIns="0" bIns="0" rtlCol="0" anchor="ctr"/>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Swan Bay Villas mở bán, 5 GD / 149,0 tỷ</a:t>
            </a:r>
            <a:endParaRPr lang="en-US" sz="1050" dirty="0"/>
          </a:p>
        </p:txBody>
      </p:sp>
      <p:sp>
        <p:nvSpPr>
          <p:cNvPr id="18" name="Shape 14"/>
          <p:cNvSpPr/>
          <p:nvPr/>
        </p:nvSpPr>
        <p:spPr>
          <a:xfrm>
            <a:off x="9089136" y="5029200"/>
            <a:ext cx="2697480" cy="1051560"/>
          </a:xfrm>
          <a:prstGeom prst="roundRect">
            <a:avLst>
              <a:gd name="adj" fmla="val 4348"/>
            </a:avLst>
          </a:prstGeom>
          <a:solidFill>
            <a:srgbClr val="F4F6FB"/>
          </a:solidFill>
          <a:ln w="12700">
            <a:solidFill>
              <a:srgbClr val="E1E7F5"/>
            </a:solidFill>
            <a:prstDash val="solid"/>
          </a:ln>
        </p:spPr>
        <p:txBody>
          <a:bodyPr/>
          <a:lstStyle/>
          <a:p>
            <a:endParaRPr lang="en-US"/>
          </a:p>
        </p:txBody>
      </p:sp>
      <p:sp>
        <p:nvSpPr>
          <p:cNvPr id="19" name="Text 15"/>
          <p:cNvSpPr/>
          <p:nvPr/>
        </p:nvSpPr>
        <p:spPr>
          <a:xfrm>
            <a:off x="9235440" y="5138928"/>
            <a:ext cx="242316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Khách giới thiệu  </a:t>
            </a:r>
            <a:r>
              <a:rPr lang="en-US" sz="1400" b="1" dirty="0">
                <a:solidFill>
                  <a:srgbClr val="B03A2E"/>
                </a:solidFill>
                <a:latin typeface="Cambria" pitchFamily="34" charset="0"/>
                <a:ea typeface="Cambria" pitchFamily="34" charset="-122"/>
                <a:cs typeface="Cambria" pitchFamily="34" charset="-120"/>
              </a:rPr>
              <a:t>−7%</a:t>
            </a:r>
            <a:endParaRPr lang="en-US" sz="1200" dirty="0"/>
          </a:p>
        </p:txBody>
      </p:sp>
      <p:sp>
        <p:nvSpPr>
          <p:cNvPr id="20" name="Text 16"/>
          <p:cNvSpPr/>
          <p:nvPr/>
        </p:nvSpPr>
        <p:spPr>
          <a:xfrm>
            <a:off x="9235440" y="5468112"/>
            <a:ext cx="2423160" cy="502920"/>
          </a:xfrm>
          <a:prstGeom prst="rect">
            <a:avLst/>
          </a:prstGeom>
          <a:noFill/>
          <a:ln/>
        </p:spPr>
        <p:txBody>
          <a:bodyPr wrap="square" lIns="0" tIns="0" rIns="0" bIns="0" rtlCol="0" anchor="ctr"/>
          <a:lstStyle/>
          <a:p>
            <a:pPr marL="0" indent="0">
              <a:lnSpc>
                <a:spcPts val="1400"/>
              </a:lnSpc>
              <a:buNone/>
            </a:pPr>
            <a:r>
              <a:rPr lang="en-US" sz="1050" dirty="0">
                <a:solidFill>
                  <a:srgbClr val="6B7280"/>
                </a:solidFill>
                <a:latin typeface="Calibri" pitchFamily="34" charset="0"/>
                <a:ea typeface="Calibri" pitchFamily="34" charset="-122"/>
                <a:cs typeface="Calibri" pitchFamily="34" charset="-120"/>
              </a:rPr>
              <a:t>Kênh duy nhất giảm: 70,5 → 65,5 tỷ</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marL="0" indent="0">
              <a:buNone/>
            </a:pPr>
            <a:r>
              <a:rPr lang="en-US" sz="1100" b="1" kern="0" spc="200" dirty="0">
                <a:solidFill>
                  <a:srgbClr val="C8891F"/>
                </a:solidFill>
                <a:latin typeface="Calibri" pitchFamily="34" charset="0"/>
                <a:ea typeface="Calibri" pitchFamily="34" charset="-122"/>
                <a:cs typeface="Calibri" pitchFamily="34" charset="-120"/>
              </a:rPr>
              <a:t>LUẬN ĐIỂM 2</a:t>
            </a:r>
            <a:endParaRPr lang="en-US" sz="1100" dirty="0"/>
          </a:p>
        </p:txBody>
      </p:sp>
      <p:sp>
        <p:nvSpPr>
          <p:cNvPr id="3" name="Text 1"/>
          <p:cNvSpPr/>
          <p:nvPr/>
        </p:nvSpPr>
        <p:spPr>
          <a:xfrm>
            <a:off x="548640" y="566928"/>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Chất lượng doanh thu mỏng đi</a:t>
            </a:r>
            <a:endParaRPr lang="en-US" sz="3000" dirty="0"/>
          </a:p>
        </p:txBody>
      </p:sp>
      <p:sp>
        <p:nvSpPr>
          <p:cNvPr id="4" name="Text 2"/>
          <p:cNvSpPr/>
          <p:nvPr/>
        </p:nvSpPr>
        <p:spPr>
          <a:xfrm>
            <a:off x="548640" y="1152144"/>
            <a:ext cx="11064240" cy="329184"/>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Tăng trưởng nằm ở đơn chưa chốt — doanh thu ghi nhận tách theo trạng thái giao dịch, tỷ đồng</a:t>
            </a:r>
            <a:endParaRPr lang="en-US" sz="1300" dirty="0"/>
          </a:p>
        </p:txBody>
      </p:sp>
      <p:sp>
        <p:nvSpPr>
          <p:cNvPr id="5" name="Shape 3"/>
          <p:cNvSpPr/>
          <p:nvPr/>
        </p:nvSpPr>
        <p:spPr>
          <a:xfrm>
            <a:off x="11228832" y="566928"/>
            <a:ext cx="384048" cy="384048"/>
          </a:xfrm>
          <a:prstGeom prst="ellipse">
            <a:avLst/>
          </a:prstGeom>
          <a:solidFill>
            <a:srgbClr val="1E2761"/>
          </a:solidFill>
          <a:ln/>
        </p:spPr>
        <p:txBody>
          <a:bodyPr/>
          <a:lstStyle/>
          <a:p>
            <a:endParaRPr lang="en-US"/>
          </a:p>
        </p:txBody>
      </p:sp>
      <p:sp>
        <p:nvSpPr>
          <p:cNvPr id="6" name="Text 4"/>
          <p:cNvSpPr/>
          <p:nvPr/>
        </p:nvSpPr>
        <p:spPr>
          <a:xfrm>
            <a:off x="11228832" y="5669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graphicFrame>
        <p:nvGraphicFramePr>
          <p:cNvPr id="7" name="Chart 0" descr="Chart"/>
          <p:cNvGraphicFramePr/>
          <p:nvPr>
            <p:extLst>
              <p:ext uri="{D42A27DB-BD31-4B8C-83A1-F6EECF244321}">
                <p14:modId xmlns:p14="http://schemas.microsoft.com/office/powerpoint/2010/main" val="267348746"/>
              </p:ext>
            </p:extLst>
          </p:nvPr>
        </p:nvGraphicFramePr>
        <p:xfrm>
          <a:off x="502920" y="1691640"/>
          <a:ext cx="65379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315200" y="1783080"/>
            <a:ext cx="4389120" cy="786384"/>
          </a:xfrm>
          <a:prstGeom prst="roundRect">
            <a:avLst>
              <a:gd name="adj" fmla="val 5814"/>
            </a:avLst>
          </a:prstGeom>
          <a:solidFill>
            <a:srgbClr val="F4F6FB"/>
          </a:solidFill>
          <a:ln w="12700">
            <a:solidFill>
              <a:srgbClr val="E1E7F5"/>
            </a:solidFill>
            <a:prstDash val="solid"/>
          </a:ln>
        </p:spPr>
        <p:txBody>
          <a:bodyPr/>
          <a:lstStyle/>
          <a:p>
            <a:endParaRPr lang="en-US"/>
          </a:p>
        </p:txBody>
      </p:sp>
      <p:sp>
        <p:nvSpPr>
          <p:cNvPr id="9" name="Text 6"/>
          <p:cNvSpPr/>
          <p:nvPr/>
        </p:nvSpPr>
        <p:spPr>
          <a:xfrm>
            <a:off x="7498080" y="1865376"/>
            <a:ext cx="22860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HĐMB đã ký</a:t>
            </a:r>
            <a:endParaRPr lang="en-US" sz="1150" dirty="0"/>
          </a:p>
        </p:txBody>
      </p:sp>
      <p:sp>
        <p:nvSpPr>
          <p:cNvPr id="10" name="Text 7"/>
          <p:cNvSpPr/>
          <p:nvPr/>
        </p:nvSpPr>
        <p:spPr>
          <a:xfrm>
            <a:off x="7498080" y="2148840"/>
            <a:ext cx="2286000" cy="329184"/>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413,1 tỷ</a:t>
            </a:r>
            <a:endParaRPr lang="en-US" sz="1700" dirty="0"/>
          </a:p>
        </p:txBody>
      </p:sp>
      <p:sp>
        <p:nvSpPr>
          <p:cNvPr id="11" name="Text 8"/>
          <p:cNvSpPr/>
          <p:nvPr/>
        </p:nvSpPr>
        <p:spPr>
          <a:xfrm>
            <a:off x="9692640" y="1965960"/>
            <a:ext cx="1874520" cy="457200"/>
          </a:xfrm>
          <a:prstGeom prst="rect">
            <a:avLst/>
          </a:prstGeom>
          <a:noFill/>
          <a:ln/>
        </p:spPr>
        <p:txBody>
          <a:bodyPr wrap="square" lIns="0" tIns="0" rIns="0" bIns="0" rtlCol="0" anchor="ctr"/>
          <a:lstStyle/>
          <a:p>
            <a:pPr marL="0" indent="0">
              <a:lnSpc>
                <a:spcPts val="1400"/>
              </a:lnSpc>
              <a:buNone/>
            </a:pPr>
            <a:r>
              <a:rPr lang="en-US" sz="1050" b="1" dirty="0">
                <a:solidFill>
                  <a:srgbClr val="B03A2E"/>
                </a:solidFill>
                <a:latin typeface="Calibri" pitchFamily="34" charset="0"/>
                <a:ea typeface="Calibri" pitchFamily="34" charset="-122"/>
                <a:cs typeface="Calibri" pitchFamily="34" charset="-120"/>
              </a:rPr>
              <a:t>▼ −2,7% so với T5 (424,5 tỷ)</a:t>
            </a:r>
            <a:endParaRPr lang="en-US" sz="1050" dirty="0"/>
          </a:p>
        </p:txBody>
      </p:sp>
      <p:sp>
        <p:nvSpPr>
          <p:cNvPr id="12" name="Shape 9"/>
          <p:cNvSpPr/>
          <p:nvPr/>
        </p:nvSpPr>
        <p:spPr>
          <a:xfrm>
            <a:off x="7315200" y="2715768"/>
            <a:ext cx="4389120" cy="786384"/>
          </a:xfrm>
          <a:prstGeom prst="roundRect">
            <a:avLst>
              <a:gd name="adj" fmla="val 5814"/>
            </a:avLst>
          </a:prstGeom>
          <a:solidFill>
            <a:srgbClr val="F4F6FB"/>
          </a:solidFill>
          <a:ln w="12700">
            <a:solidFill>
              <a:srgbClr val="E1E7F5"/>
            </a:solidFill>
            <a:prstDash val="solid"/>
          </a:ln>
        </p:spPr>
        <p:txBody>
          <a:bodyPr/>
          <a:lstStyle/>
          <a:p>
            <a:endParaRPr lang="en-US"/>
          </a:p>
        </p:txBody>
      </p:sp>
      <p:sp>
        <p:nvSpPr>
          <p:cNvPr id="13" name="Text 10"/>
          <p:cNvSpPr/>
          <p:nvPr/>
        </p:nvSpPr>
        <p:spPr>
          <a:xfrm>
            <a:off x="7498080" y="2798064"/>
            <a:ext cx="22860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Mới đặt cọc</a:t>
            </a:r>
            <a:endParaRPr lang="en-US" sz="1150" dirty="0"/>
          </a:p>
        </p:txBody>
      </p:sp>
      <p:sp>
        <p:nvSpPr>
          <p:cNvPr id="14" name="Text 11"/>
          <p:cNvSpPr/>
          <p:nvPr/>
        </p:nvSpPr>
        <p:spPr>
          <a:xfrm>
            <a:off x="7498080" y="3081528"/>
            <a:ext cx="2286000" cy="329184"/>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255,7 tỷ</a:t>
            </a:r>
            <a:endParaRPr lang="en-US" sz="1700" dirty="0"/>
          </a:p>
        </p:txBody>
      </p:sp>
      <p:sp>
        <p:nvSpPr>
          <p:cNvPr id="15" name="Text 12"/>
          <p:cNvSpPr/>
          <p:nvPr/>
        </p:nvSpPr>
        <p:spPr>
          <a:xfrm>
            <a:off x="9692640" y="2898648"/>
            <a:ext cx="1874520" cy="457200"/>
          </a:xfrm>
          <a:prstGeom prst="rect">
            <a:avLst/>
          </a:prstGeom>
          <a:noFill/>
          <a:ln/>
        </p:spPr>
        <p:txBody>
          <a:bodyPr wrap="square" lIns="0" tIns="0" rIns="0" bIns="0" rtlCol="0" anchor="ctr"/>
          <a:lstStyle/>
          <a:p>
            <a:pPr marL="0" indent="0">
              <a:lnSpc>
                <a:spcPts val="1400"/>
              </a:lnSpc>
              <a:buNone/>
            </a:pPr>
            <a:r>
              <a:rPr lang="en-US" sz="1050" b="1" dirty="0">
                <a:solidFill>
                  <a:srgbClr val="C8891F"/>
                </a:solidFill>
                <a:latin typeface="Calibri" pitchFamily="34" charset="0"/>
                <a:ea typeface="Calibri" pitchFamily="34" charset="-122"/>
                <a:cs typeface="Calibri" pitchFamily="34" charset="-120"/>
              </a:rPr>
              <a:t>▲ +146% so với T5 (103,9 tỷ)</a:t>
            </a:r>
            <a:endParaRPr lang="en-US" sz="1050" dirty="0"/>
          </a:p>
        </p:txBody>
      </p:sp>
      <p:sp>
        <p:nvSpPr>
          <p:cNvPr id="16" name="Shape 13"/>
          <p:cNvSpPr/>
          <p:nvPr/>
        </p:nvSpPr>
        <p:spPr>
          <a:xfrm>
            <a:off x="7315200" y="3648456"/>
            <a:ext cx="4389120" cy="786384"/>
          </a:xfrm>
          <a:prstGeom prst="roundRect">
            <a:avLst>
              <a:gd name="adj" fmla="val 5814"/>
            </a:avLst>
          </a:prstGeom>
          <a:solidFill>
            <a:srgbClr val="F4F6FB"/>
          </a:solidFill>
          <a:ln w="12700">
            <a:solidFill>
              <a:srgbClr val="E1E7F5"/>
            </a:solidFill>
            <a:prstDash val="solid"/>
          </a:ln>
        </p:spPr>
        <p:txBody>
          <a:bodyPr/>
          <a:lstStyle/>
          <a:p>
            <a:endParaRPr lang="en-US"/>
          </a:p>
        </p:txBody>
      </p:sp>
      <p:sp>
        <p:nvSpPr>
          <p:cNvPr id="17" name="Text 14"/>
          <p:cNvSpPr/>
          <p:nvPr/>
        </p:nvSpPr>
        <p:spPr>
          <a:xfrm>
            <a:off x="7498080" y="3730752"/>
            <a:ext cx="22860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Đơn giá bình quân</a:t>
            </a:r>
            <a:endParaRPr lang="en-US" sz="1150" dirty="0"/>
          </a:p>
        </p:txBody>
      </p:sp>
      <p:sp>
        <p:nvSpPr>
          <p:cNvPr id="18" name="Text 15"/>
          <p:cNvSpPr/>
          <p:nvPr/>
        </p:nvSpPr>
        <p:spPr>
          <a:xfrm>
            <a:off x="7498080" y="4014216"/>
            <a:ext cx="2286000" cy="329184"/>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78,0 trđ/m²</a:t>
            </a:r>
            <a:endParaRPr lang="en-US" sz="1700" dirty="0"/>
          </a:p>
        </p:txBody>
      </p:sp>
      <p:sp>
        <p:nvSpPr>
          <p:cNvPr id="19" name="Text 16"/>
          <p:cNvSpPr/>
          <p:nvPr/>
        </p:nvSpPr>
        <p:spPr>
          <a:xfrm>
            <a:off x="9692640" y="3831336"/>
            <a:ext cx="1874520" cy="457200"/>
          </a:xfrm>
          <a:prstGeom prst="rect">
            <a:avLst/>
          </a:prstGeom>
          <a:noFill/>
          <a:ln/>
        </p:spPr>
        <p:txBody>
          <a:bodyPr wrap="square" lIns="0" tIns="0" rIns="0" bIns="0" rtlCol="0" anchor="ctr"/>
          <a:lstStyle/>
          <a:p>
            <a:pPr marL="0" indent="0">
              <a:lnSpc>
                <a:spcPts val="1400"/>
              </a:lnSpc>
              <a:buNone/>
            </a:pPr>
            <a:r>
              <a:rPr lang="en-US" sz="1050" b="1" dirty="0">
                <a:solidFill>
                  <a:srgbClr val="B03A2E"/>
                </a:solidFill>
                <a:latin typeface="Calibri" pitchFamily="34" charset="0"/>
                <a:ea typeface="Calibri" pitchFamily="34" charset="-122"/>
                <a:cs typeface="Calibri" pitchFamily="34" charset="-120"/>
              </a:rPr>
              <a:t>▼ −9,9% — dịch sang đất nền</a:t>
            </a:r>
            <a:endParaRPr lang="en-US" sz="1050" dirty="0"/>
          </a:p>
        </p:txBody>
      </p:sp>
      <p:sp>
        <p:nvSpPr>
          <p:cNvPr id="20" name="Shape 17"/>
          <p:cNvSpPr/>
          <p:nvPr/>
        </p:nvSpPr>
        <p:spPr>
          <a:xfrm>
            <a:off x="7315200" y="4581144"/>
            <a:ext cx="4389120" cy="786384"/>
          </a:xfrm>
          <a:prstGeom prst="roundRect">
            <a:avLst>
              <a:gd name="adj" fmla="val 5814"/>
            </a:avLst>
          </a:prstGeom>
          <a:solidFill>
            <a:srgbClr val="F4F6FB"/>
          </a:solidFill>
          <a:ln w="12700">
            <a:solidFill>
              <a:srgbClr val="E1E7F5"/>
            </a:solidFill>
            <a:prstDash val="solid"/>
          </a:ln>
        </p:spPr>
        <p:txBody>
          <a:bodyPr/>
          <a:lstStyle/>
          <a:p>
            <a:endParaRPr lang="en-US"/>
          </a:p>
        </p:txBody>
      </p:sp>
      <p:sp>
        <p:nvSpPr>
          <p:cNvPr id="21" name="Text 18"/>
          <p:cNvSpPr/>
          <p:nvPr/>
        </p:nvSpPr>
        <p:spPr>
          <a:xfrm>
            <a:off x="7498080" y="4663440"/>
            <a:ext cx="22860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Chiết khấu bình quân</a:t>
            </a:r>
            <a:endParaRPr lang="en-US" sz="1150" dirty="0"/>
          </a:p>
        </p:txBody>
      </p:sp>
      <p:sp>
        <p:nvSpPr>
          <p:cNvPr id="22" name="Text 19"/>
          <p:cNvSpPr/>
          <p:nvPr/>
        </p:nvSpPr>
        <p:spPr>
          <a:xfrm>
            <a:off x="7498080" y="4946904"/>
            <a:ext cx="2286000" cy="329184"/>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2,94%</a:t>
            </a:r>
            <a:endParaRPr lang="en-US" sz="1700" dirty="0"/>
          </a:p>
        </p:txBody>
      </p:sp>
      <p:sp>
        <p:nvSpPr>
          <p:cNvPr id="23" name="Text 20"/>
          <p:cNvSpPr/>
          <p:nvPr/>
        </p:nvSpPr>
        <p:spPr>
          <a:xfrm>
            <a:off x="9692640" y="4764024"/>
            <a:ext cx="1874520" cy="457200"/>
          </a:xfrm>
          <a:prstGeom prst="rect">
            <a:avLst/>
          </a:prstGeom>
          <a:noFill/>
          <a:ln/>
        </p:spPr>
        <p:txBody>
          <a:bodyPr wrap="square" lIns="0" tIns="0" rIns="0" bIns="0" rtlCol="0" anchor="ctr"/>
          <a:lstStyle/>
          <a:p>
            <a:pPr marL="0" indent="0">
              <a:lnSpc>
                <a:spcPts val="1400"/>
              </a:lnSpc>
              <a:buNone/>
            </a:pPr>
            <a:r>
              <a:rPr lang="en-US" sz="1050" b="1" dirty="0">
                <a:solidFill>
                  <a:srgbClr val="B03A2E"/>
                </a:solidFill>
                <a:latin typeface="Calibri" pitchFamily="34" charset="0"/>
                <a:ea typeface="Calibri" pitchFamily="34" charset="-122"/>
                <a:cs typeface="Calibri" pitchFamily="34" charset="-120"/>
              </a:rPr>
              <a:t>▲ +0,24 điểm % so với T5</a:t>
            </a:r>
            <a:endParaRPr lang="en-US" sz="1050" dirty="0"/>
          </a:p>
        </p:txBody>
      </p:sp>
      <p:sp>
        <p:nvSpPr>
          <p:cNvPr id="24" name="Shape 21"/>
          <p:cNvSpPr/>
          <p:nvPr/>
        </p:nvSpPr>
        <p:spPr>
          <a:xfrm>
            <a:off x="502920" y="5440680"/>
            <a:ext cx="11201400" cy="868680"/>
          </a:xfrm>
          <a:prstGeom prst="roundRect">
            <a:avLst>
              <a:gd name="adj" fmla="val 5263"/>
            </a:avLst>
          </a:prstGeom>
          <a:solidFill>
            <a:srgbClr val="FBF4E7"/>
          </a:solidFill>
          <a:ln w="12700">
            <a:solidFill>
              <a:srgbClr val="EBD9B4"/>
            </a:solidFill>
            <a:prstDash val="solid"/>
          </a:ln>
        </p:spPr>
        <p:txBody>
          <a:bodyPr/>
          <a:lstStyle/>
          <a:p>
            <a:endParaRPr lang="en-US"/>
          </a:p>
        </p:txBody>
      </p:sp>
      <p:sp>
        <p:nvSpPr>
          <p:cNvPr id="25" name="Text 22"/>
          <p:cNvSpPr/>
          <p:nvPr/>
        </p:nvSpPr>
        <p:spPr>
          <a:xfrm>
            <a:off x="731520" y="5577840"/>
            <a:ext cx="10744200" cy="603504"/>
          </a:xfrm>
          <a:prstGeom prst="rect">
            <a:avLst/>
          </a:prstGeom>
          <a:noFill/>
          <a:ln/>
        </p:spPr>
        <p:txBody>
          <a:bodyPr wrap="square" lIns="0" tIns="0" rIns="0" bIns="0" rtlCol="0" anchor="ctr"/>
          <a:lstStyle/>
          <a:p>
            <a:pPr marL="0" indent="0">
              <a:lnSpc>
                <a:spcPts val="1700"/>
              </a:lnSpc>
              <a:buNone/>
            </a:pPr>
            <a:r>
              <a:rPr lang="en-US" sz="1250" b="1" dirty="0">
                <a:solidFill>
                  <a:srgbClr val="C8891F"/>
                </a:solidFill>
                <a:latin typeface="Calibri" pitchFamily="34" charset="0"/>
                <a:ea typeface="Calibri" pitchFamily="34" charset="-122"/>
                <a:cs typeface="Calibri" pitchFamily="34" charset="-120"/>
              </a:rPr>
              <a:t>Ý nghĩa:  </a:t>
            </a:r>
            <a:r>
              <a:rPr lang="en-US" sz="1250" dirty="0">
                <a:solidFill>
                  <a:srgbClr val="5A4A2A"/>
                </a:solidFill>
                <a:latin typeface="Calibri" pitchFamily="34" charset="0"/>
                <a:ea typeface="Calibri" pitchFamily="34" charset="-122"/>
                <a:cs typeface="Calibri" pitchFamily="34" charset="-120"/>
              </a:rPr>
              <a:t>23 giao dịch đặt cọc trong tháng 6 quyết định doanh thu quý III. Nếu tỷ lệ chuyển cọc → HĐMB rơi về mức trung bình 6 tháng, phần lớn mức tăng 26,6% sẽ không hiện thực hoá.</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marL="0" indent="0">
              <a:buNone/>
            </a:pPr>
            <a:r>
              <a:rPr lang="en-US" sz="1100" b="1" kern="0" spc="200" dirty="0">
                <a:solidFill>
                  <a:srgbClr val="C8891F"/>
                </a:solidFill>
                <a:latin typeface="Calibri" pitchFamily="34" charset="0"/>
                <a:ea typeface="Calibri" pitchFamily="34" charset="-122"/>
                <a:cs typeface="Calibri" pitchFamily="34" charset="-120"/>
              </a:rPr>
              <a:t>LUẬN ĐIỂM 3</a:t>
            </a:r>
            <a:endParaRPr lang="en-US" sz="1100" dirty="0"/>
          </a:p>
        </p:txBody>
      </p:sp>
      <p:sp>
        <p:nvSpPr>
          <p:cNvPr id="3" name="Text 1"/>
          <p:cNvSpPr/>
          <p:nvPr/>
        </p:nvSpPr>
        <p:spPr>
          <a:xfrm>
            <a:off x="548640" y="566928"/>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Tăng trưởng tập trung vào ít người bán, ít dự án</a:t>
            </a:r>
            <a:endParaRPr lang="en-US" sz="3000" dirty="0"/>
          </a:p>
        </p:txBody>
      </p:sp>
      <p:sp>
        <p:nvSpPr>
          <p:cNvPr id="4" name="Text 2"/>
          <p:cNvSpPr/>
          <p:nvPr/>
        </p:nvSpPr>
        <p:spPr>
          <a:xfrm>
            <a:off x="548640" y="1152144"/>
            <a:ext cx="11064240" cy="329184"/>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Doanh thu ghi nhận theo nhân viên sales, tỷ đồng</a:t>
            </a:r>
            <a:endParaRPr lang="en-US" sz="1300" dirty="0"/>
          </a:p>
        </p:txBody>
      </p:sp>
      <p:sp>
        <p:nvSpPr>
          <p:cNvPr id="5" name="Shape 3"/>
          <p:cNvSpPr/>
          <p:nvPr/>
        </p:nvSpPr>
        <p:spPr>
          <a:xfrm>
            <a:off x="11228832" y="566928"/>
            <a:ext cx="384048" cy="384048"/>
          </a:xfrm>
          <a:prstGeom prst="ellipse">
            <a:avLst/>
          </a:prstGeom>
          <a:solidFill>
            <a:srgbClr val="1E2761"/>
          </a:solidFill>
          <a:ln/>
        </p:spPr>
        <p:txBody>
          <a:bodyPr/>
          <a:lstStyle/>
          <a:p>
            <a:endParaRPr lang="en-US"/>
          </a:p>
        </p:txBody>
      </p:sp>
      <p:sp>
        <p:nvSpPr>
          <p:cNvPr id="6" name="Text 4"/>
          <p:cNvSpPr/>
          <p:nvPr/>
        </p:nvSpPr>
        <p:spPr>
          <a:xfrm>
            <a:off x="11228832" y="5669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graphicFrame>
        <p:nvGraphicFramePr>
          <p:cNvPr id="7" name="Chart 0" descr="Chart"/>
          <p:cNvGraphicFramePr/>
          <p:nvPr>
            <p:extLst>
              <p:ext uri="{D42A27DB-BD31-4B8C-83A1-F6EECF244321}">
                <p14:modId xmlns:p14="http://schemas.microsoft.com/office/powerpoint/2010/main" val="1617321313"/>
              </p:ext>
            </p:extLst>
          </p:nvPr>
        </p:nvGraphicFramePr>
        <p:xfrm>
          <a:off x="502920" y="1664208"/>
          <a:ext cx="667512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406640" y="1664208"/>
            <a:ext cx="2103120" cy="1097280"/>
          </a:xfrm>
          <a:prstGeom prst="roundRect">
            <a:avLst>
              <a:gd name="adj" fmla="val 5000"/>
            </a:avLst>
          </a:prstGeom>
          <a:solidFill>
            <a:srgbClr val="F4F6FB"/>
          </a:solidFill>
          <a:ln w="12700">
            <a:solidFill>
              <a:srgbClr val="E1E7F5"/>
            </a:solidFill>
            <a:prstDash val="solid"/>
          </a:ln>
        </p:spPr>
        <p:txBody>
          <a:bodyPr/>
          <a:lstStyle/>
          <a:p>
            <a:endParaRPr lang="en-US"/>
          </a:p>
        </p:txBody>
      </p:sp>
      <p:sp>
        <p:nvSpPr>
          <p:cNvPr id="9" name="Text 6"/>
          <p:cNvSpPr/>
          <p:nvPr/>
        </p:nvSpPr>
        <p:spPr>
          <a:xfrm>
            <a:off x="7571232" y="1783080"/>
            <a:ext cx="1773936" cy="237744"/>
          </a:xfrm>
          <a:prstGeom prst="rect">
            <a:avLst/>
          </a:prstGeom>
          <a:noFill/>
          <a:ln/>
        </p:spPr>
        <p:txBody>
          <a:bodyPr wrap="square" lIns="0" tIns="0" rIns="0" bIns="0" rtlCol="0" anchor="ctr"/>
          <a:lstStyle/>
          <a:p>
            <a:pPr marL="0" indent="0">
              <a:buNone/>
            </a:pPr>
            <a:r>
              <a:rPr lang="en-US" sz="950" b="1" kern="0" spc="100" dirty="0">
                <a:solidFill>
                  <a:srgbClr val="6B7280"/>
                </a:solidFill>
                <a:latin typeface="Calibri" pitchFamily="34" charset="0"/>
                <a:ea typeface="Calibri" pitchFamily="34" charset="-122"/>
                <a:cs typeface="Calibri" pitchFamily="34" charset="-120"/>
              </a:rPr>
              <a:t>TOP 4 SALES</a:t>
            </a:r>
            <a:endParaRPr lang="en-US" sz="950" dirty="0"/>
          </a:p>
        </p:txBody>
      </p:sp>
      <p:sp>
        <p:nvSpPr>
          <p:cNvPr id="10" name="Text 7"/>
          <p:cNvSpPr/>
          <p:nvPr/>
        </p:nvSpPr>
        <p:spPr>
          <a:xfrm>
            <a:off x="7571232" y="2029968"/>
            <a:ext cx="1773936" cy="45720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63</a:t>
            </a:r>
            <a:r>
              <a:rPr lang="en-US" sz="1150" dirty="0">
                <a:solidFill>
                  <a:srgbClr val="6B7280"/>
                </a:solidFill>
                <a:latin typeface="Calibri" pitchFamily="34" charset="0"/>
                <a:ea typeface="Calibri" pitchFamily="34" charset="-122"/>
                <a:cs typeface="Calibri" pitchFamily="34" charset="-120"/>
              </a:rPr>
              <a:t> %</a:t>
            </a:r>
            <a:endParaRPr lang="en-US" sz="2700" dirty="0"/>
          </a:p>
        </p:txBody>
      </p:sp>
      <p:sp>
        <p:nvSpPr>
          <p:cNvPr id="11" name="Text 8"/>
          <p:cNvSpPr/>
          <p:nvPr/>
        </p:nvSpPr>
        <p:spPr>
          <a:xfrm>
            <a:off x="7571232" y="2505456"/>
            <a:ext cx="1773936" cy="256032"/>
          </a:xfrm>
          <a:prstGeom prst="rect">
            <a:avLst/>
          </a:prstGeom>
          <a:noFill/>
          <a:ln/>
        </p:spPr>
        <p:txBody>
          <a:bodyPr wrap="square" lIns="0" tIns="0" rIns="0" bIns="0" rtlCol="0" anchor="ctr"/>
          <a:lstStyle/>
          <a:p>
            <a:pPr marL="0" indent="0">
              <a:buNone/>
            </a:pPr>
            <a:r>
              <a:rPr lang="en-US" sz="1150" b="1" dirty="0">
                <a:solidFill>
                  <a:srgbClr val="6B7280"/>
                </a:solidFill>
                <a:latin typeface="Calibri" pitchFamily="34" charset="0"/>
                <a:ea typeface="Calibri" pitchFamily="34" charset="-122"/>
                <a:cs typeface="Calibri" pitchFamily="34" charset="-120"/>
              </a:rPr>
              <a:t>doanh thu tháng 6</a:t>
            </a:r>
            <a:endParaRPr lang="en-US" sz="1150" dirty="0"/>
          </a:p>
        </p:txBody>
      </p:sp>
      <p:sp>
        <p:nvSpPr>
          <p:cNvPr id="12" name="Shape 9"/>
          <p:cNvSpPr/>
          <p:nvPr/>
        </p:nvSpPr>
        <p:spPr>
          <a:xfrm>
            <a:off x="9646920" y="1664208"/>
            <a:ext cx="2057400" cy="1097280"/>
          </a:xfrm>
          <a:prstGeom prst="roundRect">
            <a:avLst>
              <a:gd name="adj" fmla="val 5000"/>
            </a:avLst>
          </a:prstGeom>
          <a:solidFill>
            <a:srgbClr val="F4F6FB"/>
          </a:solidFill>
          <a:ln w="12700">
            <a:solidFill>
              <a:srgbClr val="E1E7F5"/>
            </a:solidFill>
            <a:prstDash val="solid"/>
          </a:ln>
        </p:spPr>
        <p:txBody>
          <a:bodyPr/>
          <a:lstStyle/>
          <a:p>
            <a:endParaRPr lang="en-US"/>
          </a:p>
        </p:txBody>
      </p:sp>
      <p:sp>
        <p:nvSpPr>
          <p:cNvPr id="13" name="Text 10"/>
          <p:cNvSpPr/>
          <p:nvPr/>
        </p:nvSpPr>
        <p:spPr>
          <a:xfrm>
            <a:off x="9811512" y="1783080"/>
            <a:ext cx="1728216" cy="237744"/>
          </a:xfrm>
          <a:prstGeom prst="rect">
            <a:avLst/>
          </a:prstGeom>
          <a:noFill/>
          <a:ln/>
        </p:spPr>
        <p:txBody>
          <a:bodyPr wrap="square" lIns="0" tIns="0" rIns="0" bIns="0" rtlCol="0" anchor="ctr"/>
          <a:lstStyle/>
          <a:p>
            <a:pPr marL="0" indent="0">
              <a:buNone/>
            </a:pPr>
            <a:r>
              <a:rPr lang="en-US" sz="950" b="1" kern="0" spc="100" dirty="0">
                <a:solidFill>
                  <a:srgbClr val="6B7280"/>
                </a:solidFill>
                <a:latin typeface="Calibri" pitchFamily="34" charset="0"/>
                <a:ea typeface="Calibri" pitchFamily="34" charset="-122"/>
                <a:cs typeface="Calibri" pitchFamily="34" charset="-120"/>
              </a:rPr>
              <a:t>SWAN BAY VILLAS</a:t>
            </a:r>
            <a:endParaRPr lang="en-US" sz="950" dirty="0"/>
          </a:p>
        </p:txBody>
      </p:sp>
      <p:sp>
        <p:nvSpPr>
          <p:cNvPr id="14" name="Text 11"/>
          <p:cNvSpPr/>
          <p:nvPr/>
        </p:nvSpPr>
        <p:spPr>
          <a:xfrm>
            <a:off x="9811512" y="2029968"/>
            <a:ext cx="1728216" cy="45720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22</a:t>
            </a:r>
            <a:r>
              <a:rPr lang="en-US" sz="1150" dirty="0">
                <a:solidFill>
                  <a:srgbClr val="6B7280"/>
                </a:solidFill>
                <a:latin typeface="Calibri" pitchFamily="34" charset="0"/>
                <a:ea typeface="Calibri" pitchFamily="34" charset="-122"/>
                <a:cs typeface="Calibri" pitchFamily="34" charset="-120"/>
              </a:rPr>
              <a:t> %</a:t>
            </a:r>
            <a:endParaRPr lang="en-US" sz="2700" dirty="0"/>
          </a:p>
        </p:txBody>
      </p:sp>
      <p:sp>
        <p:nvSpPr>
          <p:cNvPr id="15" name="Text 12"/>
          <p:cNvSpPr/>
          <p:nvPr/>
        </p:nvSpPr>
        <p:spPr>
          <a:xfrm>
            <a:off x="9811512" y="2505456"/>
            <a:ext cx="1728216" cy="256032"/>
          </a:xfrm>
          <a:prstGeom prst="rect">
            <a:avLst/>
          </a:prstGeom>
          <a:noFill/>
          <a:ln/>
        </p:spPr>
        <p:txBody>
          <a:bodyPr wrap="square" lIns="0" tIns="0" rIns="0" bIns="0" rtlCol="0" anchor="ctr"/>
          <a:lstStyle/>
          <a:p>
            <a:pPr marL="0" indent="0">
              <a:buNone/>
            </a:pPr>
            <a:r>
              <a:rPr lang="en-US" sz="1150" b="1" dirty="0">
                <a:solidFill>
                  <a:srgbClr val="6B7280"/>
                </a:solidFill>
                <a:latin typeface="Calibri" pitchFamily="34" charset="0"/>
                <a:ea typeface="Calibri" pitchFamily="34" charset="-122"/>
                <a:cs typeface="Calibri" pitchFamily="34" charset="-120"/>
              </a:rPr>
              <a:t>doanh thu tháng 6</a:t>
            </a:r>
            <a:endParaRPr lang="en-US" sz="1150" dirty="0"/>
          </a:p>
        </p:txBody>
      </p:sp>
      <p:sp>
        <p:nvSpPr>
          <p:cNvPr id="16" name="Text 13"/>
          <p:cNvSpPr/>
          <p:nvPr/>
        </p:nvSpPr>
        <p:spPr>
          <a:xfrm>
            <a:off x="7406640" y="2926080"/>
            <a:ext cx="4297680" cy="274320"/>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Dự án đóng góp lớn nhất tháng 6</a:t>
            </a:r>
            <a:endParaRPr lang="en-US" sz="1300" dirty="0"/>
          </a:p>
        </p:txBody>
      </p:sp>
      <p:sp>
        <p:nvSpPr>
          <p:cNvPr id="17" name="Shape 14"/>
          <p:cNvSpPr/>
          <p:nvPr/>
        </p:nvSpPr>
        <p:spPr>
          <a:xfrm>
            <a:off x="7406640" y="3255264"/>
            <a:ext cx="4297680" cy="384048"/>
          </a:xfrm>
          <a:prstGeom prst="rect">
            <a:avLst/>
          </a:prstGeom>
          <a:solidFill>
            <a:srgbClr val="F4F6FB"/>
          </a:solidFill>
          <a:ln w="6350">
            <a:solidFill>
              <a:srgbClr val="F4F6FB"/>
            </a:solidFill>
            <a:prstDash val="solid"/>
          </a:ln>
        </p:spPr>
        <p:txBody>
          <a:bodyPr/>
          <a:lstStyle/>
          <a:p>
            <a:endParaRPr lang="en-US"/>
          </a:p>
        </p:txBody>
      </p:sp>
      <p:sp>
        <p:nvSpPr>
          <p:cNvPr id="18" name="Text 15"/>
          <p:cNvSpPr/>
          <p:nvPr/>
        </p:nvSpPr>
        <p:spPr>
          <a:xfrm>
            <a:off x="7516368" y="3273552"/>
            <a:ext cx="2103120" cy="329184"/>
          </a:xfrm>
          <a:prstGeom prst="rect">
            <a:avLst/>
          </a:prstGeom>
          <a:noFill/>
          <a:ln/>
        </p:spPr>
        <p:txBody>
          <a:bodyPr wrap="square" lIns="0" tIns="0" rIns="0" bIns="0" rtlCol="0" anchor="ctr"/>
          <a:lstStyle/>
          <a:p>
            <a:pPr marL="0" indent="0">
              <a:buNone/>
            </a:pPr>
            <a:r>
              <a:rPr lang="en-US" sz="1150" dirty="0">
                <a:solidFill>
                  <a:srgbClr val="334066"/>
                </a:solidFill>
                <a:latin typeface="Calibri" pitchFamily="34" charset="0"/>
                <a:ea typeface="Calibri" pitchFamily="34" charset="-122"/>
                <a:cs typeface="Calibri" pitchFamily="34" charset="-120"/>
              </a:rPr>
              <a:t>Swan Bay Villas</a:t>
            </a:r>
            <a:endParaRPr lang="en-US" sz="1150" dirty="0"/>
          </a:p>
        </p:txBody>
      </p:sp>
      <p:sp>
        <p:nvSpPr>
          <p:cNvPr id="19" name="Text 16"/>
          <p:cNvSpPr/>
          <p:nvPr/>
        </p:nvSpPr>
        <p:spPr>
          <a:xfrm>
            <a:off x="9601200" y="3273552"/>
            <a:ext cx="822960" cy="329184"/>
          </a:xfrm>
          <a:prstGeom prst="rect">
            <a:avLst/>
          </a:prstGeom>
          <a:noFill/>
          <a:ln/>
        </p:spPr>
        <p:txBody>
          <a:bodyPr wrap="square" lIns="0" tIns="0" rIns="0" bIns="0" rtlCol="0" anchor="ctr"/>
          <a:lstStyle/>
          <a:p>
            <a:pPr marL="0" indent="0" algn="r">
              <a:buNone/>
            </a:pPr>
            <a:r>
              <a:rPr lang="en-US" sz="1150" b="1" dirty="0">
                <a:solidFill>
                  <a:srgbClr val="1E2761"/>
                </a:solidFill>
                <a:latin typeface="Calibri" pitchFamily="34" charset="0"/>
                <a:ea typeface="Calibri" pitchFamily="34" charset="-122"/>
                <a:cs typeface="Calibri" pitchFamily="34" charset="-120"/>
              </a:rPr>
              <a:t>149,0</a:t>
            </a:r>
            <a:endParaRPr lang="en-US" sz="1150" dirty="0"/>
          </a:p>
        </p:txBody>
      </p:sp>
      <p:sp>
        <p:nvSpPr>
          <p:cNvPr id="20" name="Text 17"/>
          <p:cNvSpPr/>
          <p:nvPr/>
        </p:nvSpPr>
        <p:spPr>
          <a:xfrm>
            <a:off x="10515600" y="3273552"/>
            <a:ext cx="1143000" cy="329184"/>
          </a:xfrm>
          <a:prstGeom prst="rect">
            <a:avLst/>
          </a:prstGeom>
          <a:noFill/>
          <a:ln/>
        </p:spPr>
        <p:txBody>
          <a:bodyPr wrap="square" lIns="0" tIns="0" rIns="0" bIns="0" rtlCol="0" anchor="ctr"/>
          <a:lstStyle/>
          <a:p>
            <a:pPr marL="0" indent="0" algn="r">
              <a:buNone/>
            </a:pPr>
            <a:r>
              <a:rPr lang="en-US" sz="1000" b="1" dirty="0">
                <a:solidFill>
                  <a:srgbClr val="1E7A5F"/>
                </a:solidFill>
                <a:latin typeface="Calibri" pitchFamily="34" charset="0"/>
                <a:ea typeface="Calibri" pitchFamily="34" charset="-122"/>
                <a:cs typeface="Calibri" pitchFamily="34" charset="-120"/>
              </a:rPr>
              <a:t>mới mở bán (T5: 0)</a:t>
            </a:r>
            <a:endParaRPr lang="en-US" sz="1000" dirty="0"/>
          </a:p>
        </p:txBody>
      </p:sp>
      <p:sp>
        <p:nvSpPr>
          <p:cNvPr id="21" name="Text 18"/>
          <p:cNvSpPr/>
          <p:nvPr/>
        </p:nvSpPr>
        <p:spPr>
          <a:xfrm>
            <a:off x="7516368" y="3675888"/>
            <a:ext cx="2103120" cy="329184"/>
          </a:xfrm>
          <a:prstGeom prst="rect">
            <a:avLst/>
          </a:prstGeom>
          <a:noFill/>
          <a:ln/>
        </p:spPr>
        <p:txBody>
          <a:bodyPr wrap="square" lIns="0" tIns="0" rIns="0" bIns="0" rtlCol="0" anchor="ctr"/>
          <a:lstStyle/>
          <a:p>
            <a:pPr marL="0" indent="0">
              <a:buNone/>
            </a:pPr>
            <a:r>
              <a:rPr lang="en-US" sz="1150" dirty="0">
                <a:solidFill>
                  <a:srgbClr val="334066"/>
                </a:solidFill>
                <a:latin typeface="Calibri" pitchFamily="34" charset="0"/>
                <a:ea typeface="Calibri" pitchFamily="34" charset="-122"/>
                <a:cs typeface="Calibri" pitchFamily="34" charset="-120"/>
              </a:rPr>
              <a:t>The Manor Central</a:t>
            </a:r>
            <a:endParaRPr lang="en-US" sz="1150" dirty="0"/>
          </a:p>
        </p:txBody>
      </p:sp>
      <p:sp>
        <p:nvSpPr>
          <p:cNvPr id="22" name="Text 19"/>
          <p:cNvSpPr/>
          <p:nvPr/>
        </p:nvSpPr>
        <p:spPr>
          <a:xfrm>
            <a:off x="9601200" y="3675888"/>
            <a:ext cx="822960" cy="329184"/>
          </a:xfrm>
          <a:prstGeom prst="rect">
            <a:avLst/>
          </a:prstGeom>
          <a:noFill/>
          <a:ln/>
        </p:spPr>
        <p:txBody>
          <a:bodyPr wrap="square" lIns="0" tIns="0" rIns="0" bIns="0" rtlCol="0" anchor="ctr"/>
          <a:lstStyle/>
          <a:p>
            <a:pPr marL="0" indent="0" algn="r">
              <a:buNone/>
            </a:pPr>
            <a:r>
              <a:rPr lang="en-US" sz="1150" b="1" dirty="0">
                <a:solidFill>
                  <a:srgbClr val="1E2761"/>
                </a:solidFill>
                <a:latin typeface="Calibri" pitchFamily="34" charset="0"/>
                <a:ea typeface="Calibri" pitchFamily="34" charset="-122"/>
                <a:cs typeface="Calibri" pitchFamily="34" charset="-120"/>
              </a:rPr>
              <a:t>92,8</a:t>
            </a:r>
            <a:endParaRPr lang="en-US" sz="1150" dirty="0"/>
          </a:p>
        </p:txBody>
      </p:sp>
      <p:sp>
        <p:nvSpPr>
          <p:cNvPr id="23" name="Text 20"/>
          <p:cNvSpPr/>
          <p:nvPr/>
        </p:nvSpPr>
        <p:spPr>
          <a:xfrm>
            <a:off x="10515600" y="3675888"/>
            <a:ext cx="1143000" cy="329184"/>
          </a:xfrm>
          <a:prstGeom prst="rect">
            <a:avLst/>
          </a:prstGeom>
          <a:noFill/>
          <a:ln/>
        </p:spPr>
        <p:txBody>
          <a:bodyPr wrap="square" lIns="0" tIns="0" rIns="0" bIns="0" rtlCol="0" anchor="ctr"/>
          <a:lstStyle/>
          <a:p>
            <a:pPr marL="0" indent="0" algn="r">
              <a:buNone/>
            </a:pPr>
            <a:r>
              <a:rPr lang="en-US" sz="1000" b="1" dirty="0">
                <a:solidFill>
                  <a:srgbClr val="1E7A5F"/>
                </a:solidFill>
                <a:latin typeface="Calibri" pitchFamily="34" charset="0"/>
                <a:ea typeface="Calibri" pitchFamily="34" charset="-122"/>
                <a:cs typeface="Calibri" pitchFamily="34" charset="-120"/>
              </a:rPr>
              <a:t>+271%</a:t>
            </a:r>
            <a:endParaRPr lang="en-US" sz="1000" dirty="0"/>
          </a:p>
        </p:txBody>
      </p:sp>
      <p:sp>
        <p:nvSpPr>
          <p:cNvPr id="24" name="Shape 21"/>
          <p:cNvSpPr/>
          <p:nvPr/>
        </p:nvSpPr>
        <p:spPr>
          <a:xfrm>
            <a:off x="7406640" y="4059936"/>
            <a:ext cx="4297680" cy="384048"/>
          </a:xfrm>
          <a:prstGeom prst="rect">
            <a:avLst/>
          </a:prstGeom>
          <a:solidFill>
            <a:srgbClr val="F4F6FB"/>
          </a:solidFill>
          <a:ln w="6350">
            <a:solidFill>
              <a:srgbClr val="F4F6FB"/>
            </a:solidFill>
            <a:prstDash val="solid"/>
          </a:ln>
        </p:spPr>
        <p:txBody>
          <a:bodyPr/>
          <a:lstStyle/>
          <a:p>
            <a:endParaRPr lang="en-US"/>
          </a:p>
        </p:txBody>
      </p:sp>
      <p:sp>
        <p:nvSpPr>
          <p:cNvPr id="25" name="Text 22"/>
          <p:cNvSpPr/>
          <p:nvPr/>
        </p:nvSpPr>
        <p:spPr>
          <a:xfrm>
            <a:off x="7516368" y="4078224"/>
            <a:ext cx="2103120" cy="329184"/>
          </a:xfrm>
          <a:prstGeom prst="rect">
            <a:avLst/>
          </a:prstGeom>
          <a:noFill/>
          <a:ln/>
        </p:spPr>
        <p:txBody>
          <a:bodyPr wrap="square" lIns="0" tIns="0" rIns="0" bIns="0" rtlCol="0" anchor="ctr"/>
          <a:lstStyle/>
          <a:p>
            <a:pPr marL="0" indent="0">
              <a:buNone/>
            </a:pPr>
            <a:r>
              <a:rPr lang="en-US" sz="1150" dirty="0">
                <a:solidFill>
                  <a:srgbClr val="334066"/>
                </a:solidFill>
                <a:latin typeface="Calibri" pitchFamily="34" charset="0"/>
                <a:ea typeface="Calibri" pitchFamily="34" charset="-122"/>
                <a:cs typeface="Calibri" pitchFamily="34" charset="-120"/>
              </a:rPr>
              <a:t>Sun Grand Boulevard</a:t>
            </a:r>
            <a:endParaRPr lang="en-US" sz="1150" dirty="0"/>
          </a:p>
        </p:txBody>
      </p:sp>
      <p:sp>
        <p:nvSpPr>
          <p:cNvPr id="26" name="Text 23"/>
          <p:cNvSpPr/>
          <p:nvPr/>
        </p:nvSpPr>
        <p:spPr>
          <a:xfrm>
            <a:off x="9601200" y="4078224"/>
            <a:ext cx="822960" cy="329184"/>
          </a:xfrm>
          <a:prstGeom prst="rect">
            <a:avLst/>
          </a:prstGeom>
          <a:noFill/>
          <a:ln/>
        </p:spPr>
        <p:txBody>
          <a:bodyPr wrap="square" lIns="0" tIns="0" rIns="0" bIns="0" rtlCol="0" anchor="ctr"/>
          <a:lstStyle/>
          <a:p>
            <a:pPr marL="0" indent="0" algn="r">
              <a:buNone/>
            </a:pPr>
            <a:r>
              <a:rPr lang="en-US" sz="1150" b="1" dirty="0">
                <a:solidFill>
                  <a:srgbClr val="1E2761"/>
                </a:solidFill>
                <a:latin typeface="Calibri" pitchFamily="34" charset="0"/>
                <a:ea typeface="Calibri" pitchFamily="34" charset="-122"/>
                <a:cs typeface="Calibri" pitchFamily="34" charset="-120"/>
              </a:rPr>
              <a:t>55,3</a:t>
            </a:r>
            <a:endParaRPr lang="en-US" sz="1150" dirty="0"/>
          </a:p>
        </p:txBody>
      </p:sp>
      <p:sp>
        <p:nvSpPr>
          <p:cNvPr id="27" name="Text 24"/>
          <p:cNvSpPr/>
          <p:nvPr/>
        </p:nvSpPr>
        <p:spPr>
          <a:xfrm>
            <a:off x="10515600" y="4078224"/>
            <a:ext cx="1143000" cy="329184"/>
          </a:xfrm>
          <a:prstGeom prst="rect">
            <a:avLst/>
          </a:prstGeom>
          <a:noFill/>
          <a:ln/>
        </p:spPr>
        <p:txBody>
          <a:bodyPr wrap="square" lIns="0" tIns="0" rIns="0" bIns="0" rtlCol="0" anchor="ctr"/>
          <a:lstStyle/>
          <a:p>
            <a:pPr marL="0" indent="0" algn="r">
              <a:buNone/>
            </a:pPr>
            <a:r>
              <a:rPr lang="en-US" sz="1000" b="1" dirty="0">
                <a:solidFill>
                  <a:srgbClr val="B03A2E"/>
                </a:solidFill>
                <a:latin typeface="Calibri" pitchFamily="34" charset="0"/>
                <a:ea typeface="Calibri" pitchFamily="34" charset="-122"/>
                <a:cs typeface="Calibri" pitchFamily="34" charset="-120"/>
              </a:rPr>
              <a:t>−32%</a:t>
            </a:r>
            <a:endParaRPr lang="en-US" sz="1000" dirty="0"/>
          </a:p>
        </p:txBody>
      </p:sp>
      <p:sp>
        <p:nvSpPr>
          <p:cNvPr id="28" name="Text 25"/>
          <p:cNvSpPr/>
          <p:nvPr/>
        </p:nvSpPr>
        <p:spPr>
          <a:xfrm>
            <a:off x="7516368" y="4480560"/>
            <a:ext cx="2103120" cy="329184"/>
          </a:xfrm>
          <a:prstGeom prst="rect">
            <a:avLst/>
          </a:prstGeom>
          <a:noFill/>
          <a:ln/>
        </p:spPr>
        <p:txBody>
          <a:bodyPr wrap="square" lIns="0" tIns="0" rIns="0" bIns="0" rtlCol="0" anchor="ctr"/>
          <a:lstStyle/>
          <a:p>
            <a:pPr marL="0" indent="0">
              <a:buNone/>
            </a:pPr>
            <a:r>
              <a:rPr lang="en-US" sz="1150" dirty="0">
                <a:solidFill>
                  <a:srgbClr val="334066"/>
                </a:solidFill>
                <a:latin typeface="Calibri" pitchFamily="34" charset="0"/>
                <a:ea typeface="Calibri" pitchFamily="34" charset="-122"/>
                <a:cs typeface="Calibri" pitchFamily="34" charset="-120"/>
              </a:rPr>
              <a:t>KDC Tân Phú Trung</a:t>
            </a:r>
            <a:endParaRPr lang="en-US" sz="1150" dirty="0"/>
          </a:p>
        </p:txBody>
      </p:sp>
      <p:sp>
        <p:nvSpPr>
          <p:cNvPr id="29" name="Text 26"/>
          <p:cNvSpPr/>
          <p:nvPr/>
        </p:nvSpPr>
        <p:spPr>
          <a:xfrm>
            <a:off x="9601200" y="4480560"/>
            <a:ext cx="822960" cy="329184"/>
          </a:xfrm>
          <a:prstGeom prst="rect">
            <a:avLst/>
          </a:prstGeom>
          <a:noFill/>
          <a:ln/>
        </p:spPr>
        <p:txBody>
          <a:bodyPr wrap="square" lIns="0" tIns="0" rIns="0" bIns="0" rtlCol="0" anchor="ctr"/>
          <a:lstStyle/>
          <a:p>
            <a:pPr marL="0" indent="0" algn="r">
              <a:buNone/>
            </a:pPr>
            <a:r>
              <a:rPr lang="en-US" sz="1150" b="1" dirty="0">
                <a:solidFill>
                  <a:srgbClr val="1E2761"/>
                </a:solidFill>
                <a:latin typeface="Calibri" pitchFamily="34" charset="0"/>
                <a:ea typeface="Calibri" pitchFamily="34" charset="-122"/>
                <a:cs typeface="Calibri" pitchFamily="34" charset="-120"/>
              </a:rPr>
              <a:t>52,0</a:t>
            </a:r>
            <a:endParaRPr lang="en-US" sz="1150" dirty="0"/>
          </a:p>
        </p:txBody>
      </p:sp>
      <p:sp>
        <p:nvSpPr>
          <p:cNvPr id="30" name="Text 27"/>
          <p:cNvSpPr/>
          <p:nvPr/>
        </p:nvSpPr>
        <p:spPr>
          <a:xfrm>
            <a:off x="10515600" y="4480560"/>
            <a:ext cx="1143000" cy="329184"/>
          </a:xfrm>
          <a:prstGeom prst="rect">
            <a:avLst/>
          </a:prstGeom>
          <a:noFill/>
          <a:ln/>
        </p:spPr>
        <p:txBody>
          <a:bodyPr wrap="square" lIns="0" tIns="0" rIns="0" bIns="0" rtlCol="0" anchor="ctr"/>
          <a:lstStyle/>
          <a:p>
            <a:pPr marL="0" indent="0" algn="r">
              <a:buNone/>
            </a:pPr>
            <a:r>
              <a:rPr lang="en-US" sz="1000" b="1" dirty="0">
                <a:solidFill>
                  <a:srgbClr val="1E7A5F"/>
                </a:solidFill>
                <a:latin typeface="Calibri" pitchFamily="34" charset="0"/>
                <a:ea typeface="Calibri" pitchFamily="34" charset="-122"/>
                <a:cs typeface="Calibri" pitchFamily="34" charset="-120"/>
              </a:rPr>
              <a:t>+94%</a:t>
            </a:r>
            <a:endParaRPr lang="en-US" sz="1000" dirty="0"/>
          </a:p>
        </p:txBody>
      </p:sp>
      <p:sp>
        <p:nvSpPr>
          <p:cNvPr id="31" name="Shape 28"/>
          <p:cNvSpPr/>
          <p:nvPr/>
        </p:nvSpPr>
        <p:spPr>
          <a:xfrm>
            <a:off x="7406640" y="4864608"/>
            <a:ext cx="4297680" cy="384048"/>
          </a:xfrm>
          <a:prstGeom prst="rect">
            <a:avLst/>
          </a:prstGeom>
          <a:solidFill>
            <a:srgbClr val="F4F6FB"/>
          </a:solidFill>
          <a:ln w="6350">
            <a:solidFill>
              <a:srgbClr val="F4F6FB"/>
            </a:solidFill>
            <a:prstDash val="solid"/>
          </a:ln>
        </p:spPr>
        <p:txBody>
          <a:bodyPr/>
          <a:lstStyle/>
          <a:p>
            <a:endParaRPr lang="en-US"/>
          </a:p>
        </p:txBody>
      </p:sp>
      <p:sp>
        <p:nvSpPr>
          <p:cNvPr id="32" name="Text 29"/>
          <p:cNvSpPr/>
          <p:nvPr/>
        </p:nvSpPr>
        <p:spPr>
          <a:xfrm>
            <a:off x="7516368" y="4882896"/>
            <a:ext cx="2103120" cy="329184"/>
          </a:xfrm>
          <a:prstGeom prst="rect">
            <a:avLst/>
          </a:prstGeom>
          <a:noFill/>
          <a:ln/>
        </p:spPr>
        <p:txBody>
          <a:bodyPr wrap="square" lIns="0" tIns="0" rIns="0" bIns="0" rtlCol="0" anchor="ctr"/>
          <a:lstStyle/>
          <a:p>
            <a:pPr marL="0" indent="0">
              <a:buNone/>
            </a:pPr>
            <a:r>
              <a:rPr lang="en-US" sz="1150" dirty="0">
                <a:solidFill>
                  <a:srgbClr val="334066"/>
                </a:solidFill>
                <a:latin typeface="Calibri" pitchFamily="34" charset="0"/>
                <a:ea typeface="Calibri" pitchFamily="34" charset="-122"/>
                <a:cs typeface="Calibri" pitchFamily="34" charset="-120"/>
              </a:rPr>
              <a:t>Ecopark Grand</a:t>
            </a:r>
            <a:endParaRPr lang="en-US" sz="1150" dirty="0"/>
          </a:p>
        </p:txBody>
      </p:sp>
      <p:sp>
        <p:nvSpPr>
          <p:cNvPr id="33" name="Text 30"/>
          <p:cNvSpPr/>
          <p:nvPr/>
        </p:nvSpPr>
        <p:spPr>
          <a:xfrm>
            <a:off x="9601200" y="4882896"/>
            <a:ext cx="822960" cy="329184"/>
          </a:xfrm>
          <a:prstGeom prst="rect">
            <a:avLst/>
          </a:prstGeom>
          <a:noFill/>
          <a:ln/>
        </p:spPr>
        <p:txBody>
          <a:bodyPr wrap="square" lIns="0" tIns="0" rIns="0" bIns="0" rtlCol="0" anchor="ctr"/>
          <a:lstStyle/>
          <a:p>
            <a:pPr marL="0" indent="0" algn="r">
              <a:buNone/>
            </a:pPr>
            <a:r>
              <a:rPr lang="en-US" sz="1150" b="1" dirty="0">
                <a:solidFill>
                  <a:srgbClr val="1E2761"/>
                </a:solidFill>
                <a:latin typeface="Calibri" pitchFamily="34" charset="0"/>
                <a:ea typeface="Calibri" pitchFamily="34" charset="-122"/>
                <a:cs typeface="Calibri" pitchFamily="34" charset="-120"/>
              </a:rPr>
              <a:t>37,6</a:t>
            </a:r>
            <a:endParaRPr lang="en-US" sz="1150" dirty="0"/>
          </a:p>
        </p:txBody>
      </p:sp>
      <p:sp>
        <p:nvSpPr>
          <p:cNvPr id="34" name="Text 31"/>
          <p:cNvSpPr/>
          <p:nvPr/>
        </p:nvSpPr>
        <p:spPr>
          <a:xfrm>
            <a:off x="10515600" y="4882896"/>
            <a:ext cx="1143000" cy="329184"/>
          </a:xfrm>
          <a:prstGeom prst="rect">
            <a:avLst/>
          </a:prstGeom>
          <a:noFill/>
          <a:ln/>
        </p:spPr>
        <p:txBody>
          <a:bodyPr wrap="square" lIns="0" tIns="0" rIns="0" bIns="0" rtlCol="0" anchor="ctr"/>
          <a:lstStyle/>
          <a:p>
            <a:pPr marL="0" indent="0" algn="r">
              <a:buNone/>
            </a:pPr>
            <a:r>
              <a:rPr lang="en-US" sz="1000" b="1" dirty="0">
                <a:solidFill>
                  <a:srgbClr val="B03A2E"/>
                </a:solidFill>
                <a:latin typeface="Calibri" pitchFamily="34" charset="0"/>
                <a:ea typeface="Calibri" pitchFamily="34" charset="-122"/>
                <a:cs typeface="Calibri" pitchFamily="34" charset="-120"/>
              </a:rPr>
              <a:t>−64%</a:t>
            </a:r>
            <a:endParaRPr lang="en-US" sz="1000" dirty="0"/>
          </a:p>
        </p:txBody>
      </p:sp>
      <p:sp>
        <p:nvSpPr>
          <p:cNvPr id="35" name="Text 32"/>
          <p:cNvSpPr/>
          <p:nvPr/>
        </p:nvSpPr>
        <p:spPr>
          <a:xfrm>
            <a:off x="7516368" y="5285232"/>
            <a:ext cx="2103120" cy="329184"/>
          </a:xfrm>
          <a:prstGeom prst="rect">
            <a:avLst/>
          </a:prstGeom>
          <a:noFill/>
          <a:ln/>
        </p:spPr>
        <p:txBody>
          <a:bodyPr wrap="square" lIns="0" tIns="0" rIns="0" bIns="0" rtlCol="0" anchor="ctr"/>
          <a:lstStyle/>
          <a:p>
            <a:pPr marL="0" indent="0">
              <a:buNone/>
            </a:pPr>
            <a:r>
              <a:rPr lang="en-US" sz="1150" dirty="0">
                <a:solidFill>
                  <a:srgbClr val="334066"/>
                </a:solidFill>
                <a:latin typeface="Calibri" pitchFamily="34" charset="0"/>
                <a:ea typeface="Calibri" pitchFamily="34" charset="-122"/>
                <a:cs typeface="Calibri" pitchFamily="34" charset="-120"/>
              </a:rPr>
              <a:t>Lavela Garden</a:t>
            </a:r>
            <a:endParaRPr lang="en-US" sz="1150" dirty="0"/>
          </a:p>
        </p:txBody>
      </p:sp>
      <p:sp>
        <p:nvSpPr>
          <p:cNvPr id="36" name="Text 33"/>
          <p:cNvSpPr/>
          <p:nvPr/>
        </p:nvSpPr>
        <p:spPr>
          <a:xfrm>
            <a:off x="9601200" y="5285232"/>
            <a:ext cx="822960" cy="329184"/>
          </a:xfrm>
          <a:prstGeom prst="rect">
            <a:avLst/>
          </a:prstGeom>
          <a:noFill/>
          <a:ln/>
        </p:spPr>
        <p:txBody>
          <a:bodyPr wrap="square" lIns="0" tIns="0" rIns="0" bIns="0" rtlCol="0" anchor="ctr"/>
          <a:lstStyle/>
          <a:p>
            <a:pPr marL="0" indent="0" algn="r">
              <a:buNone/>
            </a:pPr>
            <a:r>
              <a:rPr lang="en-US" sz="1150" b="1" dirty="0">
                <a:solidFill>
                  <a:srgbClr val="1E2761"/>
                </a:solidFill>
                <a:latin typeface="Calibri" pitchFamily="34" charset="0"/>
                <a:ea typeface="Calibri" pitchFamily="34" charset="-122"/>
                <a:cs typeface="Calibri" pitchFamily="34" charset="-120"/>
              </a:rPr>
              <a:t>19,3</a:t>
            </a:r>
            <a:endParaRPr lang="en-US" sz="1150" dirty="0"/>
          </a:p>
        </p:txBody>
      </p:sp>
      <p:sp>
        <p:nvSpPr>
          <p:cNvPr id="37" name="Text 34"/>
          <p:cNvSpPr/>
          <p:nvPr/>
        </p:nvSpPr>
        <p:spPr>
          <a:xfrm>
            <a:off x="10515600" y="5285232"/>
            <a:ext cx="1143000" cy="329184"/>
          </a:xfrm>
          <a:prstGeom prst="rect">
            <a:avLst/>
          </a:prstGeom>
          <a:noFill/>
          <a:ln/>
        </p:spPr>
        <p:txBody>
          <a:bodyPr wrap="square" lIns="0" tIns="0" rIns="0" bIns="0" rtlCol="0" anchor="ctr"/>
          <a:lstStyle/>
          <a:p>
            <a:pPr marL="0" indent="0" algn="r">
              <a:buNone/>
            </a:pPr>
            <a:r>
              <a:rPr lang="en-US" sz="1000" b="1" dirty="0">
                <a:solidFill>
                  <a:srgbClr val="B03A2E"/>
                </a:solidFill>
                <a:latin typeface="Calibri" pitchFamily="34" charset="0"/>
                <a:ea typeface="Calibri" pitchFamily="34" charset="-122"/>
                <a:cs typeface="Calibri" pitchFamily="34" charset="-120"/>
              </a:rPr>
              <a:t>−77%</a:t>
            </a:r>
            <a:endParaRPr lang="en-US" sz="1000" dirty="0"/>
          </a:p>
        </p:txBody>
      </p:sp>
      <p:sp>
        <p:nvSpPr>
          <p:cNvPr id="38" name="Text 35"/>
          <p:cNvSpPr/>
          <p:nvPr/>
        </p:nvSpPr>
        <p:spPr>
          <a:xfrm>
            <a:off x="7406640" y="5760720"/>
            <a:ext cx="4297680" cy="457200"/>
          </a:xfrm>
          <a:prstGeom prst="rect">
            <a:avLst/>
          </a:prstGeom>
          <a:noFill/>
          <a:ln/>
        </p:spPr>
        <p:txBody>
          <a:bodyPr wrap="square" lIns="0" tIns="0" rIns="0" bIns="0" rtlCol="0" anchor="ctr"/>
          <a:lstStyle/>
          <a:p>
            <a:pPr marL="0" indent="0">
              <a:lnSpc>
                <a:spcPts val="1400"/>
              </a:lnSpc>
              <a:buNone/>
            </a:pPr>
            <a:r>
              <a:rPr lang="en-US" sz="1000" i="1" dirty="0">
                <a:solidFill>
                  <a:srgbClr val="6B7280"/>
                </a:solidFill>
                <a:latin typeface="Calibri" pitchFamily="34" charset="0"/>
                <a:ea typeface="Calibri" pitchFamily="34" charset="-122"/>
                <a:cs typeface="Calibri" pitchFamily="34" charset="-120"/>
              </a:rPr>
              <a:t>Đơn vị: tỷ đồng. Bốn nhân viên giảm so với tháng 5, sâu nhất là Đỗ Thanh Lam (−82%).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marL="0" indent="0">
              <a:buNone/>
            </a:pPr>
            <a:r>
              <a:rPr lang="en-US" sz="1100" b="1" kern="0" spc="200" dirty="0">
                <a:solidFill>
                  <a:srgbClr val="C8891F"/>
                </a:solidFill>
                <a:latin typeface="Calibri" pitchFamily="34" charset="0"/>
                <a:ea typeface="Calibri" pitchFamily="34" charset="-122"/>
                <a:cs typeface="Calibri" pitchFamily="34" charset="-120"/>
              </a:rPr>
              <a:t>NHẬN ĐỊNH</a:t>
            </a:r>
            <a:endParaRPr lang="en-US" sz="1100" dirty="0"/>
          </a:p>
        </p:txBody>
      </p:sp>
      <p:sp>
        <p:nvSpPr>
          <p:cNvPr id="3" name="Text 1"/>
          <p:cNvSpPr/>
          <p:nvPr/>
        </p:nvSpPr>
        <p:spPr>
          <a:xfrm>
            <a:off x="548640" y="566928"/>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Bốn nhận định chính và phần nguyên nhân cần bổ sung</a:t>
            </a:r>
            <a:endParaRPr lang="en-US" sz="3000" dirty="0"/>
          </a:p>
        </p:txBody>
      </p:sp>
      <p:sp>
        <p:nvSpPr>
          <p:cNvPr id="4" name="Text 2"/>
          <p:cNvSpPr/>
          <p:nvPr/>
        </p:nvSpPr>
        <p:spPr>
          <a:xfrm>
            <a:off x="548640" y="1152144"/>
            <a:ext cx="11064240" cy="329184"/>
          </a:xfrm>
          <a:prstGeom prst="rect">
            <a:avLst/>
          </a:prstGeom>
          <a:noFill/>
          <a:ln/>
        </p:spPr>
        <p:txBody>
          <a:bodyPr wrap="square" lIns="0" tIns="0" rIns="0" bIns="0" rtlCol="0" anchor="ctr"/>
          <a:lstStyle/>
          <a:p>
            <a:pPr marL="0" indent="0">
              <a:buNone/>
            </a:pPr>
            <a:r>
              <a:rPr lang="vi-VN" sz="1300">
                <a:solidFill>
                  <a:srgbClr val="6B7280"/>
                </a:solidFill>
                <a:latin typeface="Calibri" pitchFamily="34" charset="0"/>
                <a:ea typeface="Calibri" pitchFamily="34" charset="-122"/>
                <a:cs typeface="Calibri" pitchFamily="34" charset="-120"/>
              </a:rPr>
              <a:t>Nguyên nhân đề xuất dựa trên dữ liệu tháng 6 — anh/chị rà soát, bổ sung bối cảnh thực tế trước khi trình bày</a:t>
            </a:r>
            <a:endParaRPr lang="en-US" sz="1300" dirty="0"/>
          </a:p>
        </p:txBody>
      </p:sp>
      <p:sp>
        <p:nvSpPr>
          <p:cNvPr id="5" name="Shape 3"/>
          <p:cNvSpPr/>
          <p:nvPr/>
        </p:nvSpPr>
        <p:spPr>
          <a:xfrm>
            <a:off x="548640" y="1783080"/>
            <a:ext cx="6446520" cy="960120"/>
          </a:xfrm>
          <a:prstGeom prst="roundRect">
            <a:avLst>
              <a:gd name="adj" fmla="val 4762"/>
            </a:avLst>
          </a:prstGeom>
          <a:solidFill>
            <a:srgbClr val="F4F6FB"/>
          </a:solidFill>
          <a:ln w="12700">
            <a:solidFill>
              <a:srgbClr val="E1E7F5"/>
            </a:solidFill>
            <a:prstDash val="solid"/>
          </a:ln>
        </p:spPr>
        <p:txBody>
          <a:bodyPr/>
          <a:lstStyle/>
          <a:p>
            <a:endParaRPr lang="en-US"/>
          </a:p>
        </p:txBody>
      </p:sp>
      <p:sp>
        <p:nvSpPr>
          <p:cNvPr id="6" name="Shape 4"/>
          <p:cNvSpPr/>
          <p:nvPr/>
        </p:nvSpPr>
        <p:spPr>
          <a:xfrm>
            <a:off x="731520" y="2066544"/>
            <a:ext cx="384048" cy="384048"/>
          </a:xfrm>
          <a:prstGeom prst="ellipse">
            <a:avLst/>
          </a:prstGeom>
          <a:solidFill>
            <a:srgbClr val="1E2761"/>
          </a:solidFill>
          <a:ln/>
        </p:spPr>
        <p:txBody>
          <a:bodyPr/>
          <a:lstStyle/>
          <a:p>
            <a:endParaRPr lang="en-US"/>
          </a:p>
        </p:txBody>
      </p:sp>
      <p:sp>
        <p:nvSpPr>
          <p:cNvPr id="7" name="Text 5"/>
          <p:cNvSpPr/>
          <p:nvPr/>
        </p:nvSpPr>
        <p:spPr>
          <a:xfrm>
            <a:off x="731520" y="20665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261872" y="1892808"/>
            <a:ext cx="5577840" cy="27432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Tăng trưởng đến từ đơn chưa chốt</a:t>
            </a:r>
            <a:endParaRPr lang="en-US" sz="1350" dirty="0"/>
          </a:p>
        </p:txBody>
      </p:sp>
      <p:sp>
        <p:nvSpPr>
          <p:cNvPr id="9" name="Text 7"/>
          <p:cNvSpPr/>
          <p:nvPr/>
        </p:nvSpPr>
        <p:spPr>
          <a:xfrm>
            <a:off x="1261872" y="2185416"/>
            <a:ext cx="5577840" cy="502920"/>
          </a:xfrm>
          <a:prstGeom prst="rect">
            <a:avLst/>
          </a:prstGeom>
          <a:noFill/>
          <a:ln/>
        </p:spPr>
        <p:txBody>
          <a:bodyPr wrap="square" lIns="0" tIns="0" rIns="0" bIns="0" rtlCol="0" anchor="ctr"/>
          <a:lstStyle/>
          <a:p>
            <a:pPr marL="0" indent="0">
              <a:lnSpc>
                <a:spcPts val="1400"/>
              </a:lnSpc>
              <a:buNone/>
            </a:pPr>
            <a:r>
              <a:rPr lang="en-US" sz="1100" dirty="0">
                <a:solidFill>
                  <a:srgbClr val="4A5468"/>
                </a:solidFill>
                <a:latin typeface="Calibri" pitchFamily="34" charset="0"/>
                <a:ea typeface="Calibri" pitchFamily="34" charset="-122"/>
                <a:cs typeface="Calibri" pitchFamily="34" charset="-120"/>
              </a:rPr>
              <a:t>Doanh thu +26,6% nhưng HĐMB đã ký −2,7%; chênh lệch nằm ở 23 đơn đặt cọc trị giá 255,7 tỷ.</a:t>
            </a:r>
            <a:endParaRPr lang="en-US" sz="1100" dirty="0"/>
          </a:p>
        </p:txBody>
      </p:sp>
      <p:sp>
        <p:nvSpPr>
          <p:cNvPr id="10" name="Shape 8"/>
          <p:cNvSpPr/>
          <p:nvPr/>
        </p:nvSpPr>
        <p:spPr>
          <a:xfrm>
            <a:off x="7178040" y="1783080"/>
            <a:ext cx="4434840" cy="960120"/>
          </a:xfrm>
          <a:prstGeom prst="roundRect">
            <a:avLst>
              <a:gd name="adj" fmla="val 4762"/>
            </a:avLst>
          </a:prstGeom>
          <a:solidFill>
            <a:srgbClr val="FFFFFF"/>
          </a:solidFill>
          <a:ln w="12700">
            <a:solidFill>
              <a:srgbClr val="B9C2D6"/>
            </a:solidFill>
            <a:prstDash val="dash"/>
          </a:ln>
        </p:spPr>
        <p:txBody>
          <a:bodyPr/>
          <a:lstStyle/>
          <a:p>
            <a:endParaRPr lang="en-US"/>
          </a:p>
        </p:txBody>
      </p:sp>
      <p:sp>
        <p:nvSpPr>
          <p:cNvPr id="11" name="Text 9"/>
          <p:cNvSpPr/>
          <p:nvPr/>
        </p:nvSpPr>
        <p:spPr>
          <a:xfrm>
            <a:off x="7360920" y="1883664"/>
            <a:ext cx="4023360" cy="237744"/>
          </a:xfrm>
          <a:prstGeom prst="rect">
            <a:avLst/>
          </a:prstGeom>
          <a:noFill/>
          <a:ln/>
        </p:spPr>
        <p:txBody>
          <a:bodyPr wrap="square" lIns="0" tIns="0" rIns="0" bIns="0" rtlCol="0" anchor="ctr"/>
          <a:lstStyle/>
          <a:p>
            <a:pPr marL="0" indent="0">
              <a:buNone/>
            </a:pPr>
            <a:r>
              <a:rPr lang="en-US" sz="900" b="1" kern="0" spc="150" dirty="0">
                <a:solidFill>
                  <a:srgbClr val="9AA3B5"/>
                </a:solidFill>
                <a:latin typeface="Calibri" pitchFamily="34" charset="0"/>
                <a:ea typeface="Calibri" pitchFamily="34" charset="-122"/>
                <a:cs typeface="Calibri" pitchFamily="34" charset="-120"/>
              </a:rPr>
              <a:t>NGUYÊN NHÂN</a:t>
            </a:r>
            <a:endParaRPr lang="en-US" sz="900" dirty="0"/>
          </a:p>
        </p:txBody>
      </p:sp>
      <p:sp>
        <p:nvSpPr>
          <p:cNvPr id="12" name="Text 10"/>
          <p:cNvSpPr/>
          <p:nvPr/>
        </p:nvSpPr>
        <p:spPr>
          <a:xfrm>
            <a:off x="7360920" y="2167128"/>
            <a:ext cx="4023360" cy="457200"/>
          </a:xfrm>
          <a:prstGeom prst="rect">
            <a:avLst/>
          </a:prstGeom>
          <a:noFill/>
          <a:ln/>
        </p:spPr>
        <p:txBody>
          <a:bodyPr wrap="square" lIns="0" tIns="0" rIns="0" bIns="0" rtlCol="0" anchor="ctr"/>
          <a:lstStyle/>
          <a:p>
            <a:pPr marL="0" indent="0">
              <a:buNone/>
            </a:pPr>
            <a:r>
              <a:rPr lang="vi-VN" sz="1200">
                <a:solidFill>
                  <a:srgbClr val="3C4A63"/>
                </a:solidFill>
                <a:latin typeface="Calibri" pitchFamily="34" charset="0"/>
                <a:ea typeface="Calibri" pitchFamily="34" charset="-122"/>
                <a:cs typeface="Calibri" pitchFamily="34" charset="-120"/>
              </a:rPr>
              <a:t>Swan Bay Villas mở bán mới trong tháng 6, các đơn còn ở giai đoạn đặt cọc và chưa đến kỳ ký HĐMB; đồng thời chính sách đẩy mạnh giữ chỗ tại sự kiện mở bán khiến lượng cọc tăng nhanh hơn tốc độ ký hợp đồng.</a:t>
            </a:r>
            <a:endParaRPr lang="en-US" sz="1200" dirty="0"/>
          </a:p>
        </p:txBody>
      </p:sp>
      <p:sp>
        <p:nvSpPr>
          <p:cNvPr id="13" name="Shape 11"/>
          <p:cNvSpPr/>
          <p:nvPr/>
        </p:nvSpPr>
        <p:spPr>
          <a:xfrm>
            <a:off x="548640" y="2880360"/>
            <a:ext cx="6446520" cy="960120"/>
          </a:xfrm>
          <a:prstGeom prst="roundRect">
            <a:avLst>
              <a:gd name="adj" fmla="val 4762"/>
            </a:avLst>
          </a:prstGeom>
          <a:solidFill>
            <a:srgbClr val="F4F6FB"/>
          </a:solidFill>
          <a:ln w="12700">
            <a:solidFill>
              <a:srgbClr val="E1E7F5"/>
            </a:solidFill>
            <a:prstDash val="solid"/>
          </a:ln>
        </p:spPr>
        <p:txBody>
          <a:bodyPr/>
          <a:lstStyle/>
          <a:p>
            <a:endParaRPr lang="en-US"/>
          </a:p>
        </p:txBody>
      </p:sp>
      <p:sp>
        <p:nvSpPr>
          <p:cNvPr id="14" name="Shape 12"/>
          <p:cNvSpPr/>
          <p:nvPr/>
        </p:nvSpPr>
        <p:spPr>
          <a:xfrm>
            <a:off x="731520" y="3163824"/>
            <a:ext cx="384048" cy="384048"/>
          </a:xfrm>
          <a:prstGeom prst="ellipse">
            <a:avLst/>
          </a:prstGeom>
          <a:solidFill>
            <a:srgbClr val="1E2761"/>
          </a:solidFill>
          <a:ln/>
        </p:spPr>
        <p:txBody>
          <a:bodyPr/>
          <a:lstStyle/>
          <a:p>
            <a:endParaRPr lang="en-US"/>
          </a:p>
        </p:txBody>
      </p:sp>
      <p:sp>
        <p:nvSpPr>
          <p:cNvPr id="15" name="Text 13"/>
          <p:cNvSpPr/>
          <p:nvPr/>
        </p:nvSpPr>
        <p:spPr>
          <a:xfrm>
            <a:off x="731520" y="316382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p:nvPr/>
        </p:nvSpPr>
        <p:spPr>
          <a:xfrm>
            <a:off x="1261872" y="2990088"/>
            <a:ext cx="5577840" cy="27432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Cơ cấu kênh bán dịch chuyển</a:t>
            </a:r>
            <a:endParaRPr lang="en-US" sz="1350" dirty="0"/>
          </a:p>
        </p:txBody>
      </p:sp>
      <p:sp>
        <p:nvSpPr>
          <p:cNvPr id="17" name="Text 15"/>
          <p:cNvSpPr/>
          <p:nvPr/>
        </p:nvSpPr>
        <p:spPr>
          <a:xfrm>
            <a:off x="1261872" y="3282696"/>
            <a:ext cx="5577840" cy="502920"/>
          </a:xfrm>
          <a:prstGeom prst="rect">
            <a:avLst/>
          </a:prstGeom>
          <a:noFill/>
          <a:ln/>
        </p:spPr>
        <p:txBody>
          <a:bodyPr wrap="square" lIns="0" tIns="0" rIns="0" bIns="0" rtlCol="0" anchor="ctr"/>
          <a:lstStyle/>
          <a:p>
            <a:pPr marL="0" indent="0">
              <a:lnSpc>
                <a:spcPts val="1400"/>
              </a:lnSpc>
              <a:buNone/>
            </a:pPr>
            <a:r>
              <a:rPr lang="en-US" sz="1100" dirty="0">
                <a:solidFill>
                  <a:srgbClr val="4A5468"/>
                </a:solidFill>
                <a:latin typeface="Calibri" pitchFamily="34" charset="0"/>
                <a:ea typeface="Calibri" pitchFamily="34" charset="-122"/>
                <a:cs typeface="Calibri" pitchFamily="34" charset="-120"/>
              </a:rPr>
              <a:t>Sự kiện mở bán +359% và Online/Digital +61%; tỷ trọng Sàn nội bộ F1 giảm từ 45% xuống 39%.</a:t>
            </a:r>
            <a:endParaRPr lang="en-US" sz="1100" dirty="0"/>
          </a:p>
        </p:txBody>
      </p:sp>
      <p:sp>
        <p:nvSpPr>
          <p:cNvPr id="18" name="Shape 16"/>
          <p:cNvSpPr/>
          <p:nvPr/>
        </p:nvSpPr>
        <p:spPr>
          <a:xfrm>
            <a:off x="7178040" y="2880360"/>
            <a:ext cx="4434840" cy="960120"/>
          </a:xfrm>
          <a:prstGeom prst="roundRect">
            <a:avLst>
              <a:gd name="adj" fmla="val 4762"/>
            </a:avLst>
          </a:prstGeom>
          <a:solidFill>
            <a:srgbClr val="FFFFFF"/>
          </a:solidFill>
          <a:ln w="12700">
            <a:solidFill>
              <a:srgbClr val="B9C2D6"/>
            </a:solidFill>
            <a:prstDash val="dash"/>
          </a:ln>
        </p:spPr>
        <p:txBody>
          <a:bodyPr/>
          <a:lstStyle/>
          <a:p>
            <a:endParaRPr lang="en-US"/>
          </a:p>
        </p:txBody>
      </p:sp>
      <p:sp>
        <p:nvSpPr>
          <p:cNvPr id="19" name="Text 17"/>
          <p:cNvSpPr/>
          <p:nvPr/>
        </p:nvSpPr>
        <p:spPr>
          <a:xfrm>
            <a:off x="7360920" y="2980944"/>
            <a:ext cx="4023360" cy="237744"/>
          </a:xfrm>
          <a:prstGeom prst="rect">
            <a:avLst/>
          </a:prstGeom>
          <a:noFill/>
          <a:ln/>
        </p:spPr>
        <p:txBody>
          <a:bodyPr wrap="square" lIns="0" tIns="0" rIns="0" bIns="0" rtlCol="0" anchor="ctr"/>
          <a:lstStyle/>
          <a:p>
            <a:pPr marL="0" indent="0">
              <a:buNone/>
            </a:pPr>
            <a:r>
              <a:rPr lang="en-US" sz="900" b="1" kern="0" spc="150" dirty="0">
                <a:solidFill>
                  <a:srgbClr val="9AA3B5"/>
                </a:solidFill>
                <a:latin typeface="Calibri" pitchFamily="34" charset="0"/>
                <a:ea typeface="Calibri" pitchFamily="34" charset="-122"/>
                <a:cs typeface="Calibri" pitchFamily="34" charset="-120"/>
              </a:rPr>
              <a:t>NGUYÊN NHÂN</a:t>
            </a:r>
            <a:endParaRPr lang="en-US" sz="900" dirty="0"/>
          </a:p>
        </p:txBody>
      </p:sp>
      <p:sp>
        <p:nvSpPr>
          <p:cNvPr id="20" name="Text 18"/>
          <p:cNvSpPr/>
          <p:nvPr/>
        </p:nvSpPr>
        <p:spPr>
          <a:xfrm>
            <a:off x="7360920" y="3264408"/>
            <a:ext cx="4023360" cy="457200"/>
          </a:xfrm>
          <a:prstGeom prst="rect">
            <a:avLst/>
          </a:prstGeom>
          <a:noFill/>
          <a:ln/>
        </p:spPr>
        <p:txBody>
          <a:bodyPr wrap="square" lIns="0" tIns="0" rIns="0" bIns="0" rtlCol="0" anchor="ctr"/>
          <a:lstStyle/>
          <a:p>
            <a:pPr marL="0" indent="0">
              <a:buNone/>
            </a:pPr>
            <a:r>
              <a:rPr lang="en-US" sz="1200">
                <a:solidFill>
                  <a:srgbClr val="3C4A63"/>
                </a:solidFill>
                <a:latin typeface="Calibri" pitchFamily="34" charset="0"/>
                <a:ea typeface="Calibri" pitchFamily="34" charset="-122"/>
                <a:cs typeface="Calibri" pitchFamily="34" charset="-120"/>
              </a:rPr>
              <a:t>Tháng 6 tập trung ngân sách cho sự kiện mở bán dự án mới và mở rộng quảng cáo số, trong khi sàn nội bộ F1 dồn nguồn lực phục vụ sự kiện nên tỷ trọng khai thác khách tự có giảm.</a:t>
            </a:r>
            <a:endParaRPr lang="en-US" sz="1200" dirty="0"/>
          </a:p>
        </p:txBody>
      </p:sp>
      <p:sp>
        <p:nvSpPr>
          <p:cNvPr id="21" name="Shape 19"/>
          <p:cNvSpPr/>
          <p:nvPr/>
        </p:nvSpPr>
        <p:spPr>
          <a:xfrm>
            <a:off x="548640" y="3977640"/>
            <a:ext cx="6446520" cy="960120"/>
          </a:xfrm>
          <a:prstGeom prst="roundRect">
            <a:avLst>
              <a:gd name="adj" fmla="val 4762"/>
            </a:avLst>
          </a:prstGeom>
          <a:solidFill>
            <a:srgbClr val="F4F6FB"/>
          </a:solidFill>
          <a:ln w="12700">
            <a:solidFill>
              <a:srgbClr val="E1E7F5"/>
            </a:solidFill>
            <a:prstDash val="solid"/>
          </a:ln>
        </p:spPr>
        <p:txBody>
          <a:bodyPr/>
          <a:lstStyle/>
          <a:p>
            <a:endParaRPr lang="en-US"/>
          </a:p>
        </p:txBody>
      </p:sp>
      <p:sp>
        <p:nvSpPr>
          <p:cNvPr id="22" name="Shape 20"/>
          <p:cNvSpPr/>
          <p:nvPr/>
        </p:nvSpPr>
        <p:spPr>
          <a:xfrm>
            <a:off x="731520" y="4261104"/>
            <a:ext cx="384048" cy="384048"/>
          </a:xfrm>
          <a:prstGeom prst="ellipse">
            <a:avLst/>
          </a:prstGeom>
          <a:solidFill>
            <a:srgbClr val="1E2761"/>
          </a:solidFill>
          <a:ln/>
        </p:spPr>
        <p:txBody>
          <a:bodyPr/>
          <a:lstStyle/>
          <a:p>
            <a:endParaRPr lang="en-US"/>
          </a:p>
        </p:txBody>
      </p:sp>
      <p:sp>
        <p:nvSpPr>
          <p:cNvPr id="23" name="Text 21"/>
          <p:cNvSpPr/>
          <p:nvPr/>
        </p:nvSpPr>
        <p:spPr>
          <a:xfrm>
            <a:off x="731520" y="426110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4" name="Text 22"/>
          <p:cNvSpPr/>
          <p:nvPr/>
        </p:nvSpPr>
        <p:spPr>
          <a:xfrm>
            <a:off x="1261872" y="4087368"/>
            <a:ext cx="5577840" cy="27432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Đơn giá giảm, chiết khấu tăng</a:t>
            </a:r>
            <a:endParaRPr lang="en-US" sz="1350" dirty="0"/>
          </a:p>
        </p:txBody>
      </p:sp>
      <p:sp>
        <p:nvSpPr>
          <p:cNvPr id="25" name="Text 23"/>
          <p:cNvSpPr/>
          <p:nvPr/>
        </p:nvSpPr>
        <p:spPr>
          <a:xfrm>
            <a:off x="1261872" y="4379976"/>
            <a:ext cx="5577840" cy="502920"/>
          </a:xfrm>
          <a:prstGeom prst="rect">
            <a:avLst/>
          </a:prstGeom>
          <a:noFill/>
          <a:ln/>
        </p:spPr>
        <p:txBody>
          <a:bodyPr wrap="square" lIns="0" tIns="0" rIns="0" bIns="0" rtlCol="0" anchor="ctr"/>
          <a:lstStyle/>
          <a:p>
            <a:pPr marL="0" indent="0">
              <a:lnSpc>
                <a:spcPts val="1400"/>
              </a:lnSpc>
              <a:buNone/>
            </a:pPr>
            <a:r>
              <a:rPr lang="en-US" sz="1100" dirty="0">
                <a:solidFill>
                  <a:srgbClr val="4A5468"/>
                </a:solidFill>
                <a:latin typeface="Calibri" pitchFamily="34" charset="0"/>
                <a:ea typeface="Calibri" pitchFamily="34" charset="-122"/>
                <a:cs typeface="Calibri" pitchFamily="34" charset="-120"/>
              </a:rPr>
              <a:t>Đơn giá bình quân 86,6 → 78,0 trđ/m² do đất nền chiếm 31% số giao dịch (T5: 22%); chiết khấu lên 2,94%.</a:t>
            </a:r>
            <a:endParaRPr lang="en-US" sz="1100" dirty="0"/>
          </a:p>
        </p:txBody>
      </p:sp>
      <p:sp>
        <p:nvSpPr>
          <p:cNvPr id="26" name="Shape 24"/>
          <p:cNvSpPr/>
          <p:nvPr/>
        </p:nvSpPr>
        <p:spPr>
          <a:xfrm>
            <a:off x="7178040" y="3977640"/>
            <a:ext cx="4434840" cy="960120"/>
          </a:xfrm>
          <a:prstGeom prst="roundRect">
            <a:avLst>
              <a:gd name="adj" fmla="val 4762"/>
            </a:avLst>
          </a:prstGeom>
          <a:solidFill>
            <a:srgbClr val="FFFFFF"/>
          </a:solidFill>
          <a:ln w="12700">
            <a:solidFill>
              <a:srgbClr val="B9C2D6"/>
            </a:solidFill>
            <a:prstDash val="dash"/>
          </a:ln>
        </p:spPr>
        <p:txBody>
          <a:bodyPr/>
          <a:lstStyle/>
          <a:p>
            <a:endParaRPr lang="en-US"/>
          </a:p>
        </p:txBody>
      </p:sp>
      <p:sp>
        <p:nvSpPr>
          <p:cNvPr id="27" name="Text 25"/>
          <p:cNvSpPr/>
          <p:nvPr/>
        </p:nvSpPr>
        <p:spPr>
          <a:xfrm>
            <a:off x="7360920" y="4078224"/>
            <a:ext cx="4023360" cy="237744"/>
          </a:xfrm>
          <a:prstGeom prst="rect">
            <a:avLst/>
          </a:prstGeom>
          <a:noFill/>
          <a:ln/>
        </p:spPr>
        <p:txBody>
          <a:bodyPr wrap="square" lIns="0" tIns="0" rIns="0" bIns="0" rtlCol="0" anchor="ctr"/>
          <a:lstStyle/>
          <a:p>
            <a:pPr marL="0" indent="0">
              <a:buNone/>
            </a:pPr>
            <a:r>
              <a:rPr lang="en-US" sz="900" b="1" kern="0" spc="150" dirty="0">
                <a:solidFill>
                  <a:srgbClr val="9AA3B5"/>
                </a:solidFill>
                <a:latin typeface="Calibri" pitchFamily="34" charset="0"/>
                <a:ea typeface="Calibri" pitchFamily="34" charset="-122"/>
                <a:cs typeface="Calibri" pitchFamily="34" charset="-120"/>
              </a:rPr>
              <a:t>NGUYÊN NHÂN</a:t>
            </a:r>
            <a:endParaRPr lang="en-US" sz="900" dirty="0"/>
          </a:p>
        </p:txBody>
      </p:sp>
      <p:sp>
        <p:nvSpPr>
          <p:cNvPr id="28" name="Text 26"/>
          <p:cNvSpPr/>
          <p:nvPr/>
        </p:nvSpPr>
        <p:spPr>
          <a:xfrm>
            <a:off x="7360920" y="4361688"/>
            <a:ext cx="4023360" cy="457200"/>
          </a:xfrm>
          <a:prstGeom prst="rect">
            <a:avLst/>
          </a:prstGeom>
          <a:noFill/>
          <a:ln/>
        </p:spPr>
        <p:txBody>
          <a:bodyPr wrap="square" lIns="0" tIns="0" rIns="0" bIns="0" rtlCol="0" anchor="ctr"/>
          <a:lstStyle/>
          <a:p>
            <a:pPr marL="0" indent="0">
              <a:buNone/>
            </a:pPr>
            <a:r>
              <a:rPr lang="vi-VN" sz="1200">
                <a:solidFill>
                  <a:srgbClr val="3C4A63"/>
                </a:solidFill>
                <a:latin typeface="Calibri" pitchFamily="34" charset="0"/>
                <a:ea typeface="Calibri" pitchFamily="34" charset="-122"/>
                <a:cs typeface="Calibri" pitchFamily="34" charset="-120"/>
              </a:rPr>
              <a:t>Cơ cấu sản phẩm dịch sang đất nền có đơn giá trên m² thấp hơn, kèm chính sách chiết khấu ưu đãi áp dụng cho giỏ hàng đất nền và khách đặt cọc sớm tại sự kiện mở bán.</a:t>
            </a:r>
            <a:endParaRPr lang="en-US" sz="1200" dirty="0"/>
          </a:p>
        </p:txBody>
      </p:sp>
      <p:sp>
        <p:nvSpPr>
          <p:cNvPr id="29" name="Shape 27"/>
          <p:cNvSpPr/>
          <p:nvPr/>
        </p:nvSpPr>
        <p:spPr>
          <a:xfrm>
            <a:off x="548640" y="5074920"/>
            <a:ext cx="6446520" cy="960120"/>
          </a:xfrm>
          <a:prstGeom prst="roundRect">
            <a:avLst>
              <a:gd name="adj" fmla="val 4762"/>
            </a:avLst>
          </a:prstGeom>
          <a:solidFill>
            <a:srgbClr val="F4F6FB"/>
          </a:solidFill>
          <a:ln w="12700">
            <a:solidFill>
              <a:srgbClr val="E1E7F5"/>
            </a:solidFill>
            <a:prstDash val="solid"/>
          </a:ln>
        </p:spPr>
        <p:txBody>
          <a:bodyPr/>
          <a:lstStyle/>
          <a:p>
            <a:endParaRPr lang="en-US"/>
          </a:p>
        </p:txBody>
      </p:sp>
      <p:sp>
        <p:nvSpPr>
          <p:cNvPr id="30" name="Shape 28"/>
          <p:cNvSpPr/>
          <p:nvPr/>
        </p:nvSpPr>
        <p:spPr>
          <a:xfrm>
            <a:off x="731520" y="5358384"/>
            <a:ext cx="384048" cy="384048"/>
          </a:xfrm>
          <a:prstGeom prst="ellipse">
            <a:avLst/>
          </a:prstGeom>
          <a:solidFill>
            <a:srgbClr val="1E2761"/>
          </a:solidFill>
          <a:ln/>
        </p:spPr>
        <p:txBody>
          <a:bodyPr/>
          <a:lstStyle/>
          <a:p>
            <a:endParaRPr lang="en-US"/>
          </a:p>
        </p:txBody>
      </p:sp>
      <p:sp>
        <p:nvSpPr>
          <p:cNvPr id="31" name="Text 29"/>
          <p:cNvSpPr/>
          <p:nvPr/>
        </p:nvSpPr>
        <p:spPr>
          <a:xfrm>
            <a:off x="731520" y="53583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2" name="Text 30"/>
          <p:cNvSpPr/>
          <p:nvPr/>
        </p:nvSpPr>
        <p:spPr>
          <a:xfrm>
            <a:off x="1261872" y="5184648"/>
            <a:ext cx="5577840" cy="27432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Kết quả phụ thuộc số ít</a:t>
            </a:r>
            <a:endParaRPr lang="en-US" sz="1350" dirty="0"/>
          </a:p>
        </p:txBody>
      </p:sp>
      <p:sp>
        <p:nvSpPr>
          <p:cNvPr id="33" name="Text 31"/>
          <p:cNvSpPr/>
          <p:nvPr/>
        </p:nvSpPr>
        <p:spPr>
          <a:xfrm>
            <a:off x="1261872" y="5477256"/>
            <a:ext cx="5577840" cy="502920"/>
          </a:xfrm>
          <a:prstGeom prst="rect">
            <a:avLst/>
          </a:prstGeom>
          <a:noFill/>
          <a:ln/>
        </p:spPr>
        <p:txBody>
          <a:bodyPr wrap="square" lIns="0" tIns="0" rIns="0" bIns="0" rtlCol="0" anchor="ctr"/>
          <a:lstStyle/>
          <a:p>
            <a:pPr marL="0" indent="0">
              <a:lnSpc>
                <a:spcPts val="1400"/>
              </a:lnSpc>
              <a:buNone/>
            </a:pPr>
            <a:r>
              <a:rPr lang="en-US" sz="1100" dirty="0">
                <a:solidFill>
                  <a:srgbClr val="4A5468"/>
                </a:solidFill>
                <a:latin typeface="Calibri" pitchFamily="34" charset="0"/>
                <a:ea typeface="Calibri" pitchFamily="34" charset="-122"/>
                <a:cs typeface="Calibri" pitchFamily="34" charset="-120"/>
              </a:rPr>
              <a:t>4/10 sales tạo 63% doanh thu, Swan Bay Villas chiếm 22%; 4 sales giảm sâu so với tháng 5.</a:t>
            </a:r>
            <a:endParaRPr lang="en-US" sz="1100" dirty="0"/>
          </a:p>
        </p:txBody>
      </p:sp>
      <p:sp>
        <p:nvSpPr>
          <p:cNvPr id="34" name="Shape 32"/>
          <p:cNvSpPr/>
          <p:nvPr/>
        </p:nvSpPr>
        <p:spPr>
          <a:xfrm>
            <a:off x="7178040" y="5074920"/>
            <a:ext cx="4434840" cy="960120"/>
          </a:xfrm>
          <a:prstGeom prst="roundRect">
            <a:avLst>
              <a:gd name="adj" fmla="val 4762"/>
            </a:avLst>
          </a:prstGeom>
          <a:solidFill>
            <a:srgbClr val="FFFFFF"/>
          </a:solidFill>
          <a:ln w="12700">
            <a:solidFill>
              <a:srgbClr val="B9C2D6"/>
            </a:solidFill>
            <a:prstDash val="dash"/>
          </a:ln>
        </p:spPr>
        <p:txBody>
          <a:bodyPr/>
          <a:lstStyle/>
          <a:p>
            <a:endParaRPr lang="en-US"/>
          </a:p>
        </p:txBody>
      </p:sp>
      <p:sp>
        <p:nvSpPr>
          <p:cNvPr id="35" name="Text 33"/>
          <p:cNvSpPr/>
          <p:nvPr/>
        </p:nvSpPr>
        <p:spPr>
          <a:xfrm>
            <a:off x="7360920" y="5175504"/>
            <a:ext cx="4023360" cy="237744"/>
          </a:xfrm>
          <a:prstGeom prst="rect">
            <a:avLst/>
          </a:prstGeom>
          <a:noFill/>
          <a:ln/>
        </p:spPr>
        <p:txBody>
          <a:bodyPr wrap="square" lIns="0" tIns="0" rIns="0" bIns="0" rtlCol="0" anchor="ctr"/>
          <a:lstStyle/>
          <a:p>
            <a:pPr marL="0" indent="0">
              <a:buNone/>
            </a:pPr>
            <a:r>
              <a:rPr lang="en-US" sz="900" b="1" kern="0" spc="150" dirty="0">
                <a:solidFill>
                  <a:srgbClr val="9AA3B5"/>
                </a:solidFill>
                <a:latin typeface="Calibri" pitchFamily="34" charset="0"/>
                <a:ea typeface="Calibri" pitchFamily="34" charset="-122"/>
                <a:cs typeface="Calibri" pitchFamily="34" charset="-120"/>
              </a:rPr>
              <a:t>NGUYÊN NHÂN</a:t>
            </a:r>
            <a:endParaRPr lang="en-US" sz="900" dirty="0"/>
          </a:p>
        </p:txBody>
      </p:sp>
      <p:sp>
        <p:nvSpPr>
          <p:cNvPr id="36" name="Text 34"/>
          <p:cNvSpPr/>
          <p:nvPr/>
        </p:nvSpPr>
        <p:spPr>
          <a:xfrm>
            <a:off x="7360920" y="5458968"/>
            <a:ext cx="4023360" cy="576072"/>
          </a:xfrm>
          <a:prstGeom prst="rect">
            <a:avLst/>
          </a:prstGeom>
          <a:noFill/>
          <a:ln/>
        </p:spPr>
        <p:txBody>
          <a:bodyPr wrap="square" lIns="0" tIns="0" rIns="0" bIns="0" rtlCol="0" anchor="ctr"/>
          <a:lstStyle/>
          <a:p>
            <a:pPr marL="0" indent="0">
              <a:buNone/>
            </a:pPr>
            <a:r>
              <a:rPr lang="vi-VN" sz="1200" dirty="0">
                <a:solidFill>
                  <a:srgbClr val="3C4A63"/>
                </a:solidFill>
                <a:latin typeface="Calibri" pitchFamily="34" charset="0"/>
                <a:ea typeface="Calibri" pitchFamily="34" charset="-122"/>
                <a:cs typeface="Calibri" pitchFamily="34" charset="-120"/>
              </a:rPr>
              <a:t>Kết quả dồn vào nhóm </a:t>
            </a:r>
            <a:r>
              <a:rPr lang="vi-VN" sz="1200" dirty="0" err="1">
                <a:solidFill>
                  <a:srgbClr val="3C4A63"/>
                </a:solidFill>
                <a:latin typeface="Calibri" pitchFamily="34" charset="0"/>
                <a:ea typeface="Calibri" pitchFamily="34" charset="-122"/>
                <a:cs typeface="Calibri" pitchFamily="34" charset="-120"/>
              </a:rPr>
              <a:t>sales</a:t>
            </a:r>
            <a:r>
              <a:rPr lang="vi-VN" sz="1200" dirty="0">
                <a:solidFill>
                  <a:srgbClr val="3C4A63"/>
                </a:solidFill>
                <a:latin typeface="Calibri" pitchFamily="34" charset="0"/>
                <a:ea typeface="Calibri" pitchFamily="34" charset="-122"/>
                <a:cs typeface="Calibri" pitchFamily="34" charset="-120"/>
              </a:rPr>
              <a:t> được phân giỏ hàng dự án mới mở bán, trong khi bốn nhân viên còn lại phụ trách các dự án đã qua cao điểm bán hàng hoặc đang vướng tiến độ pháp lý, nguồn hàng hạn chế.</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marL="0" indent="0">
              <a:buNone/>
            </a:pPr>
            <a:r>
              <a:rPr lang="en-US" sz="1150" b="1" kern="0" spc="250" dirty="0">
                <a:solidFill>
                  <a:srgbClr val="C8891F"/>
                </a:solidFill>
                <a:latin typeface="Calibri" pitchFamily="34" charset="0"/>
                <a:ea typeface="Calibri" pitchFamily="34" charset="-122"/>
                <a:cs typeface="Calibri" pitchFamily="34" charset="-120"/>
              </a:rPr>
              <a:t>BƯỚC TIẾP THEO</a:t>
            </a:r>
            <a:endParaRPr lang="en-US" sz="1150" dirty="0"/>
          </a:p>
        </p:txBody>
      </p:sp>
      <p:sp>
        <p:nvSpPr>
          <p:cNvPr id="3" name="Text 1"/>
          <p:cNvSpPr/>
          <p:nvPr/>
        </p:nvSpPr>
        <p:spPr>
          <a:xfrm>
            <a:off x="640080" y="841248"/>
            <a:ext cx="108813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Bốn việc cần chốt trong tháng 7</a:t>
            </a:r>
            <a:endParaRPr lang="en-US" sz="3000" dirty="0"/>
          </a:p>
        </p:txBody>
      </p:sp>
      <p:sp>
        <p:nvSpPr>
          <p:cNvPr id="4" name="Text 2"/>
          <p:cNvSpPr/>
          <p:nvPr/>
        </p:nvSpPr>
        <p:spPr>
          <a:xfrm>
            <a:off x="640080" y="1426464"/>
            <a:ext cx="10881360" cy="29260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Người phụ trách và hạn hoàn thành để trống — anh/chị phân công khi trình bày.</a:t>
            </a:r>
            <a:endParaRPr lang="en-US" sz="1300" dirty="0"/>
          </a:p>
        </p:txBody>
      </p:sp>
      <p:sp>
        <p:nvSpPr>
          <p:cNvPr id="5" name="Shape 3"/>
          <p:cNvSpPr/>
          <p:nvPr/>
        </p:nvSpPr>
        <p:spPr>
          <a:xfrm>
            <a:off x="640080" y="1965960"/>
            <a:ext cx="5349240" cy="1737360"/>
          </a:xfrm>
          <a:prstGeom prst="roundRect">
            <a:avLst>
              <a:gd name="adj" fmla="val 2632"/>
            </a:avLst>
          </a:prstGeom>
          <a:solidFill>
            <a:srgbClr val="2E3F7F"/>
          </a:solidFill>
          <a:ln w="12700">
            <a:solidFill>
              <a:srgbClr val="3D4E8F"/>
            </a:solidFill>
            <a:prstDash val="solid"/>
          </a:ln>
        </p:spPr>
        <p:txBody>
          <a:bodyPr/>
          <a:lstStyle/>
          <a:p>
            <a:endParaRPr lang="en-US"/>
          </a:p>
        </p:txBody>
      </p:sp>
      <p:sp>
        <p:nvSpPr>
          <p:cNvPr id="6" name="Shape 4"/>
          <p:cNvSpPr/>
          <p:nvPr/>
        </p:nvSpPr>
        <p:spPr>
          <a:xfrm>
            <a:off x="896112" y="2221992"/>
            <a:ext cx="384048" cy="384048"/>
          </a:xfrm>
          <a:prstGeom prst="ellipse">
            <a:avLst/>
          </a:prstGeom>
          <a:solidFill>
            <a:srgbClr val="C8891F"/>
          </a:solidFill>
          <a:ln/>
        </p:spPr>
        <p:txBody>
          <a:bodyPr/>
          <a:lstStyle/>
          <a:p>
            <a:endParaRPr lang="en-US"/>
          </a:p>
        </p:txBody>
      </p:sp>
      <p:sp>
        <p:nvSpPr>
          <p:cNvPr id="7" name="Text 5"/>
          <p:cNvSpPr/>
          <p:nvPr/>
        </p:nvSpPr>
        <p:spPr>
          <a:xfrm>
            <a:off x="896112" y="22219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417320" y="2203704"/>
            <a:ext cx="4389120" cy="457200"/>
          </a:xfrm>
          <a:prstGeom prst="rect">
            <a:avLst/>
          </a:prstGeom>
          <a:noFill/>
          <a:ln/>
        </p:spPr>
        <p:txBody>
          <a:bodyPr wrap="square" lIns="0" tIns="0" rIns="0" bIns="0" rtlCol="0" anchor="ctr"/>
          <a:lstStyle/>
          <a:p>
            <a:pPr marL="0" indent="0">
              <a:lnSpc>
                <a:spcPts val="1800"/>
              </a:lnSpc>
              <a:buNone/>
            </a:pPr>
            <a:r>
              <a:rPr lang="en-US" sz="1400" b="1" dirty="0">
                <a:solidFill>
                  <a:srgbClr val="FFFFFF"/>
                </a:solidFill>
                <a:latin typeface="Cambria" pitchFamily="34" charset="0"/>
                <a:ea typeface="Cambria" pitchFamily="34" charset="-122"/>
                <a:cs typeface="Cambria" pitchFamily="34" charset="-120"/>
              </a:rPr>
              <a:t>Theo dõi chuyển đổi cọc → HĐMB hàng tuần</a:t>
            </a:r>
            <a:endParaRPr lang="en-US" sz="1400" dirty="0"/>
          </a:p>
        </p:txBody>
      </p:sp>
      <p:sp>
        <p:nvSpPr>
          <p:cNvPr id="9" name="Text 7"/>
          <p:cNvSpPr/>
          <p:nvPr/>
        </p:nvSpPr>
        <p:spPr>
          <a:xfrm>
            <a:off x="896112" y="2679192"/>
            <a:ext cx="4846320" cy="548640"/>
          </a:xfrm>
          <a:prstGeom prst="rect">
            <a:avLst/>
          </a:prstGeom>
          <a:noFill/>
          <a:ln/>
        </p:spPr>
        <p:txBody>
          <a:bodyPr wrap="square" lIns="0" tIns="0" rIns="0" bIns="0" rtlCol="0" anchor="ctr"/>
          <a:lstStyle/>
          <a:p>
            <a:pPr marL="0" indent="0">
              <a:lnSpc>
                <a:spcPts val="1500"/>
              </a:lnSpc>
              <a:buNone/>
            </a:pPr>
            <a:r>
              <a:rPr lang="en-US" sz="1100" dirty="0">
                <a:solidFill>
                  <a:srgbClr val="CADCFC"/>
                </a:solidFill>
                <a:latin typeface="Calibri" pitchFamily="34" charset="0"/>
                <a:ea typeface="Calibri" pitchFamily="34" charset="-122"/>
                <a:cs typeface="Calibri" pitchFamily="34" charset="-120"/>
              </a:rPr>
              <a:t>255,7 tỷ đang nằm ở 23 đơn đặt cọc. Đây là biến số quyết định kết quả quý III.</a:t>
            </a:r>
            <a:endParaRPr lang="en-US" sz="1100" dirty="0"/>
          </a:p>
        </p:txBody>
      </p:sp>
      <p:sp>
        <p:nvSpPr>
          <p:cNvPr id="10" name="Text 8"/>
          <p:cNvSpPr/>
          <p:nvPr/>
        </p:nvSpPr>
        <p:spPr>
          <a:xfrm>
            <a:off x="896112" y="3337560"/>
            <a:ext cx="4846320" cy="274320"/>
          </a:xfrm>
          <a:prstGeom prst="rect">
            <a:avLst/>
          </a:prstGeom>
          <a:noFill/>
          <a:ln/>
        </p:spPr>
        <p:txBody>
          <a:bodyPr wrap="square" lIns="0" tIns="0" rIns="0" bIns="0" rtlCol="0" anchor="ctr"/>
          <a:lstStyle/>
          <a:p>
            <a:pPr marL="0" indent="0">
              <a:buNone/>
            </a:pPr>
            <a:r>
              <a:rPr lang="en-US" sz="1050" i="1" dirty="0">
                <a:solidFill>
                  <a:srgbClr val="8FA3CE"/>
                </a:solidFill>
                <a:latin typeface="Calibri" pitchFamily="34" charset="0"/>
                <a:ea typeface="Calibri" pitchFamily="34" charset="-122"/>
                <a:cs typeface="Calibri" pitchFamily="34" charset="-120"/>
              </a:rPr>
              <a:t>Người phụ trách: [ ____ ]     ·     Hạn: [ ____ ]</a:t>
            </a:r>
            <a:endParaRPr lang="en-US" sz="1050" dirty="0"/>
          </a:p>
        </p:txBody>
      </p:sp>
      <p:sp>
        <p:nvSpPr>
          <p:cNvPr id="11" name="Shape 9"/>
          <p:cNvSpPr/>
          <p:nvPr/>
        </p:nvSpPr>
        <p:spPr>
          <a:xfrm>
            <a:off x="6263640" y="1965960"/>
            <a:ext cx="5349240" cy="1737360"/>
          </a:xfrm>
          <a:prstGeom prst="roundRect">
            <a:avLst>
              <a:gd name="adj" fmla="val 2632"/>
            </a:avLst>
          </a:prstGeom>
          <a:solidFill>
            <a:srgbClr val="2E3F7F"/>
          </a:solidFill>
          <a:ln w="12700">
            <a:solidFill>
              <a:srgbClr val="3D4E8F"/>
            </a:solidFill>
            <a:prstDash val="solid"/>
          </a:ln>
        </p:spPr>
        <p:txBody>
          <a:bodyPr/>
          <a:lstStyle/>
          <a:p>
            <a:endParaRPr lang="en-US"/>
          </a:p>
        </p:txBody>
      </p:sp>
      <p:sp>
        <p:nvSpPr>
          <p:cNvPr id="12" name="Shape 10"/>
          <p:cNvSpPr/>
          <p:nvPr/>
        </p:nvSpPr>
        <p:spPr>
          <a:xfrm>
            <a:off x="6519672" y="2221992"/>
            <a:ext cx="384048" cy="384048"/>
          </a:xfrm>
          <a:prstGeom prst="ellipse">
            <a:avLst/>
          </a:prstGeom>
          <a:solidFill>
            <a:srgbClr val="C8891F"/>
          </a:solidFill>
          <a:ln/>
        </p:spPr>
        <p:txBody>
          <a:bodyPr/>
          <a:lstStyle/>
          <a:p>
            <a:endParaRPr lang="en-US"/>
          </a:p>
        </p:txBody>
      </p:sp>
      <p:sp>
        <p:nvSpPr>
          <p:cNvPr id="13" name="Text 11"/>
          <p:cNvSpPr/>
          <p:nvPr/>
        </p:nvSpPr>
        <p:spPr>
          <a:xfrm>
            <a:off x="6519672" y="22219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7040880" y="2203704"/>
            <a:ext cx="4389120" cy="457200"/>
          </a:xfrm>
          <a:prstGeom prst="rect">
            <a:avLst/>
          </a:prstGeom>
          <a:noFill/>
          <a:ln/>
        </p:spPr>
        <p:txBody>
          <a:bodyPr wrap="square" lIns="0" tIns="0" rIns="0" bIns="0" rtlCol="0" anchor="ctr"/>
          <a:lstStyle/>
          <a:p>
            <a:pPr marL="0" indent="0">
              <a:lnSpc>
                <a:spcPts val="1800"/>
              </a:lnSpc>
              <a:buNone/>
            </a:pPr>
            <a:r>
              <a:rPr lang="en-US" sz="1400" b="1" dirty="0">
                <a:solidFill>
                  <a:srgbClr val="FFFFFF"/>
                </a:solidFill>
                <a:latin typeface="Cambria" pitchFamily="34" charset="0"/>
                <a:ea typeface="Cambria" pitchFamily="34" charset="-122"/>
                <a:cs typeface="Cambria" pitchFamily="34" charset="-120"/>
              </a:rPr>
              <a:t>Đánh giá chi phí / hiệu quả kênh Sự kiện mở bán</a:t>
            </a:r>
            <a:endParaRPr lang="en-US" sz="1400" dirty="0"/>
          </a:p>
        </p:txBody>
      </p:sp>
      <p:sp>
        <p:nvSpPr>
          <p:cNvPr id="15" name="Text 13"/>
          <p:cNvSpPr/>
          <p:nvPr/>
        </p:nvSpPr>
        <p:spPr>
          <a:xfrm>
            <a:off x="6519672" y="2679192"/>
            <a:ext cx="4846320" cy="548640"/>
          </a:xfrm>
          <a:prstGeom prst="rect">
            <a:avLst/>
          </a:prstGeom>
          <a:noFill/>
          <a:ln/>
        </p:spPr>
        <p:txBody>
          <a:bodyPr wrap="square" lIns="0" tIns="0" rIns="0" bIns="0" rtlCol="0" anchor="ctr"/>
          <a:lstStyle/>
          <a:p>
            <a:pPr marL="0" indent="0">
              <a:lnSpc>
                <a:spcPts val="1500"/>
              </a:lnSpc>
              <a:buNone/>
            </a:pPr>
            <a:r>
              <a:rPr lang="en-US" sz="1100" dirty="0">
                <a:solidFill>
                  <a:srgbClr val="CADCFC"/>
                </a:solidFill>
                <a:latin typeface="Calibri" pitchFamily="34" charset="0"/>
                <a:ea typeface="Calibri" pitchFamily="34" charset="-122"/>
                <a:cs typeface="Calibri" pitchFamily="34" charset="-120"/>
              </a:rPr>
              <a:t>Kênh tăng 359% nhưng nền tháng 5 chỉ 2 giao dịch — cần soi chi phí trước khi nhân rộng.</a:t>
            </a:r>
            <a:endParaRPr lang="en-US" sz="1100" dirty="0"/>
          </a:p>
        </p:txBody>
      </p:sp>
      <p:sp>
        <p:nvSpPr>
          <p:cNvPr id="16" name="Text 14"/>
          <p:cNvSpPr/>
          <p:nvPr/>
        </p:nvSpPr>
        <p:spPr>
          <a:xfrm>
            <a:off x="6519672" y="3337560"/>
            <a:ext cx="4846320" cy="274320"/>
          </a:xfrm>
          <a:prstGeom prst="rect">
            <a:avLst/>
          </a:prstGeom>
          <a:noFill/>
          <a:ln/>
        </p:spPr>
        <p:txBody>
          <a:bodyPr wrap="square" lIns="0" tIns="0" rIns="0" bIns="0" rtlCol="0" anchor="ctr"/>
          <a:lstStyle/>
          <a:p>
            <a:pPr marL="0" indent="0">
              <a:buNone/>
            </a:pPr>
            <a:r>
              <a:rPr lang="en-US" sz="1050" i="1" dirty="0">
                <a:solidFill>
                  <a:srgbClr val="8FA3CE"/>
                </a:solidFill>
                <a:latin typeface="Calibri" pitchFamily="34" charset="0"/>
                <a:ea typeface="Calibri" pitchFamily="34" charset="-122"/>
                <a:cs typeface="Calibri" pitchFamily="34" charset="-120"/>
              </a:rPr>
              <a:t>Người phụ trách: [ ____ ]     ·     Hạn: [ ____ ]</a:t>
            </a:r>
            <a:endParaRPr lang="en-US" sz="1050" dirty="0"/>
          </a:p>
        </p:txBody>
      </p:sp>
      <p:sp>
        <p:nvSpPr>
          <p:cNvPr id="17" name="Shape 15"/>
          <p:cNvSpPr/>
          <p:nvPr/>
        </p:nvSpPr>
        <p:spPr>
          <a:xfrm>
            <a:off x="640080" y="3931920"/>
            <a:ext cx="5349240" cy="1737360"/>
          </a:xfrm>
          <a:prstGeom prst="roundRect">
            <a:avLst>
              <a:gd name="adj" fmla="val 2632"/>
            </a:avLst>
          </a:prstGeom>
          <a:solidFill>
            <a:srgbClr val="2E3F7F"/>
          </a:solidFill>
          <a:ln w="12700">
            <a:solidFill>
              <a:srgbClr val="3D4E8F"/>
            </a:solidFill>
            <a:prstDash val="solid"/>
          </a:ln>
        </p:spPr>
        <p:txBody>
          <a:bodyPr/>
          <a:lstStyle/>
          <a:p>
            <a:endParaRPr lang="en-US"/>
          </a:p>
        </p:txBody>
      </p:sp>
      <p:sp>
        <p:nvSpPr>
          <p:cNvPr id="18" name="Shape 16"/>
          <p:cNvSpPr/>
          <p:nvPr/>
        </p:nvSpPr>
        <p:spPr>
          <a:xfrm>
            <a:off x="896112" y="4187952"/>
            <a:ext cx="384048" cy="384048"/>
          </a:xfrm>
          <a:prstGeom prst="ellipse">
            <a:avLst/>
          </a:prstGeom>
          <a:solidFill>
            <a:srgbClr val="C8891F"/>
          </a:solidFill>
          <a:ln/>
        </p:spPr>
        <p:txBody>
          <a:bodyPr/>
          <a:lstStyle/>
          <a:p>
            <a:endParaRPr lang="en-US"/>
          </a:p>
        </p:txBody>
      </p:sp>
      <p:sp>
        <p:nvSpPr>
          <p:cNvPr id="19" name="Text 17"/>
          <p:cNvSpPr/>
          <p:nvPr/>
        </p:nvSpPr>
        <p:spPr>
          <a:xfrm>
            <a:off x="896112" y="41879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p:nvPr/>
        </p:nvSpPr>
        <p:spPr>
          <a:xfrm>
            <a:off x="1417320" y="4169664"/>
            <a:ext cx="4389120" cy="457200"/>
          </a:xfrm>
          <a:prstGeom prst="rect">
            <a:avLst/>
          </a:prstGeom>
          <a:noFill/>
          <a:ln/>
        </p:spPr>
        <p:txBody>
          <a:bodyPr wrap="square" lIns="0" tIns="0" rIns="0" bIns="0" rtlCol="0" anchor="ctr"/>
          <a:lstStyle/>
          <a:p>
            <a:pPr marL="0" indent="0">
              <a:lnSpc>
                <a:spcPts val="1800"/>
              </a:lnSpc>
              <a:buNone/>
            </a:pPr>
            <a:r>
              <a:rPr lang="en-US" sz="1400" b="1" dirty="0">
                <a:solidFill>
                  <a:srgbClr val="FFFFFF"/>
                </a:solidFill>
                <a:latin typeface="Cambria" pitchFamily="34" charset="0"/>
                <a:ea typeface="Cambria" pitchFamily="34" charset="-122"/>
                <a:cs typeface="Cambria" pitchFamily="34" charset="-120"/>
              </a:rPr>
              <a:t>Rà soát chính sách chiết khấu nhóm đất nền</a:t>
            </a:r>
            <a:endParaRPr lang="en-US" sz="1400" dirty="0"/>
          </a:p>
        </p:txBody>
      </p:sp>
      <p:sp>
        <p:nvSpPr>
          <p:cNvPr id="21" name="Text 19"/>
          <p:cNvSpPr/>
          <p:nvPr/>
        </p:nvSpPr>
        <p:spPr>
          <a:xfrm>
            <a:off x="896112" y="4645152"/>
            <a:ext cx="4846320" cy="548640"/>
          </a:xfrm>
          <a:prstGeom prst="rect">
            <a:avLst/>
          </a:prstGeom>
          <a:noFill/>
          <a:ln/>
        </p:spPr>
        <p:txBody>
          <a:bodyPr wrap="square" lIns="0" tIns="0" rIns="0" bIns="0" rtlCol="0" anchor="ctr"/>
          <a:lstStyle/>
          <a:p>
            <a:pPr marL="0" indent="0">
              <a:lnSpc>
                <a:spcPts val="1500"/>
              </a:lnSpc>
              <a:buNone/>
            </a:pPr>
            <a:r>
              <a:rPr lang="en-US" sz="1100" dirty="0">
                <a:solidFill>
                  <a:srgbClr val="CADCFC"/>
                </a:solidFill>
                <a:latin typeface="Calibri" pitchFamily="34" charset="0"/>
                <a:ea typeface="Calibri" pitchFamily="34" charset="-122"/>
                <a:cs typeface="Calibri" pitchFamily="34" charset="-120"/>
              </a:rPr>
              <a:t>Đất nền kéo đơn giá bình quân xuống 9,9% trong khi chiết khấu bình quân tăng.</a:t>
            </a:r>
            <a:endParaRPr lang="en-US" sz="1100" dirty="0"/>
          </a:p>
        </p:txBody>
      </p:sp>
      <p:sp>
        <p:nvSpPr>
          <p:cNvPr id="22" name="Text 20"/>
          <p:cNvSpPr/>
          <p:nvPr/>
        </p:nvSpPr>
        <p:spPr>
          <a:xfrm>
            <a:off x="896112" y="5303520"/>
            <a:ext cx="4846320" cy="274320"/>
          </a:xfrm>
          <a:prstGeom prst="rect">
            <a:avLst/>
          </a:prstGeom>
          <a:noFill/>
          <a:ln/>
        </p:spPr>
        <p:txBody>
          <a:bodyPr wrap="square" lIns="0" tIns="0" rIns="0" bIns="0" rtlCol="0" anchor="ctr"/>
          <a:lstStyle/>
          <a:p>
            <a:pPr marL="0" indent="0">
              <a:buNone/>
            </a:pPr>
            <a:r>
              <a:rPr lang="en-US" sz="1050" i="1" dirty="0">
                <a:solidFill>
                  <a:srgbClr val="8FA3CE"/>
                </a:solidFill>
                <a:latin typeface="Calibri" pitchFamily="34" charset="0"/>
                <a:ea typeface="Calibri" pitchFamily="34" charset="-122"/>
                <a:cs typeface="Calibri" pitchFamily="34" charset="-120"/>
              </a:rPr>
              <a:t>Người phụ trách: [ ____ ]     ·     Hạn: [ ____ ]</a:t>
            </a:r>
            <a:endParaRPr lang="en-US" sz="1050" dirty="0"/>
          </a:p>
        </p:txBody>
      </p:sp>
      <p:sp>
        <p:nvSpPr>
          <p:cNvPr id="23" name="Shape 21"/>
          <p:cNvSpPr/>
          <p:nvPr/>
        </p:nvSpPr>
        <p:spPr>
          <a:xfrm>
            <a:off x="6263640" y="3931920"/>
            <a:ext cx="5349240" cy="1737360"/>
          </a:xfrm>
          <a:prstGeom prst="roundRect">
            <a:avLst>
              <a:gd name="adj" fmla="val 2632"/>
            </a:avLst>
          </a:prstGeom>
          <a:solidFill>
            <a:srgbClr val="2E3F7F"/>
          </a:solidFill>
          <a:ln w="12700">
            <a:solidFill>
              <a:srgbClr val="3D4E8F"/>
            </a:solidFill>
            <a:prstDash val="solid"/>
          </a:ln>
        </p:spPr>
        <p:txBody>
          <a:bodyPr/>
          <a:lstStyle/>
          <a:p>
            <a:endParaRPr lang="en-US"/>
          </a:p>
        </p:txBody>
      </p:sp>
      <p:sp>
        <p:nvSpPr>
          <p:cNvPr id="24" name="Shape 22"/>
          <p:cNvSpPr/>
          <p:nvPr/>
        </p:nvSpPr>
        <p:spPr>
          <a:xfrm>
            <a:off x="6519672" y="4187952"/>
            <a:ext cx="384048" cy="384048"/>
          </a:xfrm>
          <a:prstGeom prst="ellipse">
            <a:avLst/>
          </a:prstGeom>
          <a:solidFill>
            <a:srgbClr val="C8891F"/>
          </a:solidFill>
          <a:ln/>
        </p:spPr>
        <p:txBody>
          <a:bodyPr/>
          <a:lstStyle/>
          <a:p>
            <a:endParaRPr lang="en-US"/>
          </a:p>
        </p:txBody>
      </p:sp>
      <p:sp>
        <p:nvSpPr>
          <p:cNvPr id="25" name="Text 23"/>
          <p:cNvSpPr/>
          <p:nvPr/>
        </p:nvSpPr>
        <p:spPr>
          <a:xfrm>
            <a:off x="6519672" y="41879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p:nvPr/>
        </p:nvSpPr>
        <p:spPr>
          <a:xfrm>
            <a:off x="7040880" y="4169664"/>
            <a:ext cx="4389120" cy="457200"/>
          </a:xfrm>
          <a:prstGeom prst="rect">
            <a:avLst/>
          </a:prstGeom>
          <a:noFill/>
          <a:ln/>
        </p:spPr>
        <p:txBody>
          <a:bodyPr wrap="square" lIns="0" tIns="0" rIns="0" bIns="0" rtlCol="0" anchor="ctr"/>
          <a:lstStyle/>
          <a:p>
            <a:pPr marL="0" indent="0">
              <a:lnSpc>
                <a:spcPts val="1800"/>
              </a:lnSpc>
              <a:buNone/>
            </a:pPr>
            <a:r>
              <a:rPr lang="en-US" sz="1400" b="1" dirty="0">
                <a:solidFill>
                  <a:srgbClr val="FFFFFF"/>
                </a:solidFill>
                <a:latin typeface="Cambria" pitchFamily="34" charset="0"/>
                <a:ea typeface="Cambria" pitchFamily="34" charset="-122"/>
                <a:cs typeface="Cambria" pitchFamily="34" charset="-120"/>
              </a:rPr>
              <a:t>Kèm cặp 4 nhân viên sụt giảm</a:t>
            </a:r>
            <a:endParaRPr lang="en-US" sz="1400" dirty="0"/>
          </a:p>
        </p:txBody>
      </p:sp>
      <p:sp>
        <p:nvSpPr>
          <p:cNvPr id="27" name="Text 25"/>
          <p:cNvSpPr/>
          <p:nvPr/>
        </p:nvSpPr>
        <p:spPr>
          <a:xfrm>
            <a:off x="6519672" y="4645152"/>
            <a:ext cx="4846320" cy="548640"/>
          </a:xfrm>
          <a:prstGeom prst="rect">
            <a:avLst/>
          </a:prstGeom>
          <a:noFill/>
          <a:ln/>
        </p:spPr>
        <p:txBody>
          <a:bodyPr wrap="square" lIns="0" tIns="0" rIns="0" bIns="0" rtlCol="0" anchor="ctr"/>
          <a:lstStyle/>
          <a:p>
            <a:pPr marL="0" indent="0">
              <a:lnSpc>
                <a:spcPts val="1500"/>
              </a:lnSpc>
              <a:buNone/>
            </a:pPr>
            <a:r>
              <a:rPr lang="en-US" sz="1100" dirty="0">
                <a:solidFill>
                  <a:srgbClr val="CADCFC"/>
                </a:solidFill>
                <a:latin typeface="Calibri" pitchFamily="34" charset="0"/>
                <a:ea typeface="Calibri" pitchFamily="34" charset="-122"/>
                <a:cs typeface="Calibri" pitchFamily="34" charset="-120"/>
              </a:rPr>
              <a:t>Đỗ Thanh Lam −82%, Trần Thị Bích −54%, Nguyễn Văn An −48%, Phạm Quốc Dũng −19%.</a:t>
            </a:r>
            <a:endParaRPr lang="en-US" sz="1100" dirty="0"/>
          </a:p>
        </p:txBody>
      </p:sp>
      <p:sp>
        <p:nvSpPr>
          <p:cNvPr id="28" name="Text 26"/>
          <p:cNvSpPr/>
          <p:nvPr/>
        </p:nvSpPr>
        <p:spPr>
          <a:xfrm>
            <a:off x="6519672" y="5303520"/>
            <a:ext cx="4846320" cy="274320"/>
          </a:xfrm>
          <a:prstGeom prst="rect">
            <a:avLst/>
          </a:prstGeom>
          <a:noFill/>
          <a:ln/>
        </p:spPr>
        <p:txBody>
          <a:bodyPr wrap="square" lIns="0" tIns="0" rIns="0" bIns="0" rtlCol="0" anchor="ctr"/>
          <a:lstStyle/>
          <a:p>
            <a:pPr marL="0" indent="0">
              <a:buNone/>
            </a:pPr>
            <a:r>
              <a:rPr lang="en-US" sz="1050" i="1" dirty="0">
                <a:solidFill>
                  <a:srgbClr val="8FA3CE"/>
                </a:solidFill>
                <a:latin typeface="Calibri" pitchFamily="34" charset="0"/>
                <a:ea typeface="Calibri" pitchFamily="34" charset="-122"/>
                <a:cs typeface="Calibri" pitchFamily="34" charset="-120"/>
              </a:rPr>
              <a:t>Người phụ trách: [ ____ ]     ·     Hạn: [ ____ ]</a:t>
            </a:r>
            <a:endParaRPr lang="en-US" sz="1050" dirty="0"/>
          </a:p>
        </p:txBody>
      </p:sp>
      <p:sp>
        <p:nvSpPr>
          <p:cNvPr id="29" name="Text 27"/>
          <p:cNvSpPr/>
          <p:nvPr/>
        </p:nvSpPr>
        <p:spPr>
          <a:xfrm>
            <a:off x="640080" y="6053328"/>
            <a:ext cx="10881360" cy="274320"/>
          </a:xfrm>
          <a:prstGeom prst="rect">
            <a:avLst/>
          </a:prstGeom>
          <a:noFill/>
          <a:ln/>
        </p:spPr>
        <p:txBody>
          <a:bodyPr wrap="square" lIns="0" tIns="0" rIns="0" bIns="0" rtlCol="0" anchor="ctr"/>
          <a:lstStyle/>
          <a:p>
            <a:pPr marL="0" indent="0">
              <a:buNone/>
            </a:pPr>
            <a:r>
              <a:rPr lang="en-US" sz="950" dirty="0">
                <a:solidFill>
                  <a:srgbClr val="8FA3CE"/>
                </a:solidFill>
                <a:latin typeface="Calibri" pitchFamily="34" charset="0"/>
                <a:ea typeface="Calibri" pitchFamily="34" charset="-122"/>
                <a:cs typeface="Calibri" pitchFamily="34" charset="-120"/>
              </a:rPr>
              <a:t>Nguồn số liệu: BDS_Claude.xlsx — sheet Data (420 giao dịch) và sheet Kế hoạch. Dữ liệu mô phỏng.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1624</Words>
  <Application>Microsoft Office PowerPoint</Application>
  <PresentationFormat>Widescreen</PresentationFormat>
  <Paragraphs>167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Kết quả kinh doanh tháng 6/2026</dc:title>
  <dc:subject>PptxGenJS Presentation</dc:subject>
  <dc:creator>MARIO</dc:creator>
  <cp:lastModifiedBy>Phan Hoang</cp:lastModifiedBy>
  <cp:revision>2</cp:revision>
  <dcterms:created xsi:type="dcterms:W3CDTF">2026-08-15T14:50:32Z</dcterms:created>
  <dcterms:modified xsi:type="dcterms:W3CDTF">2026-08-16T09:29:05Z</dcterms:modified>
</cp:coreProperties>
</file>